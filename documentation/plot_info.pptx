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7" r:id="rId3"/>
    <p:sldId id="259" r:id="rId4"/>
    <p:sldId id="258"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0C0A"/>
    <a:srgbClr val="DC954F"/>
    <a:srgbClr val="F7E6D5"/>
    <a:srgbClr val="6FAF8B"/>
    <a:srgbClr val="5681AD"/>
    <a:srgbClr val="ABC1D6"/>
    <a:srgbClr val="0000FF"/>
    <a:srgbClr val="DBDBDB"/>
    <a:srgbClr val="6B6BFF"/>
    <a:srgbClr val="D90A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7AC242-72DC-43F1-B8D1-38D35556D062}" v="12" dt="2025-07-14T22:54:27.3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81808" autoAdjust="0"/>
  </p:normalViewPr>
  <p:slideViewPr>
    <p:cSldViewPr snapToGrid="0">
      <p:cViewPr varScale="1">
        <p:scale>
          <a:sx n="78" d="100"/>
          <a:sy n="78" d="100"/>
        </p:scale>
        <p:origin x="835"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F386B01-FD28-405F-B00F-6A73E9402EB4}" type="datetimeFigureOut">
              <a:rPr lang="en-CA" smtClean="0"/>
              <a:t>2025-07-15</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D51559-7ED9-4495-A3C0-DDB2E926809E}" type="slidenum">
              <a:rPr lang="en-CA" smtClean="0"/>
              <a:t>‹#›</a:t>
            </a:fld>
            <a:endParaRPr lang="en-CA"/>
          </a:p>
        </p:txBody>
      </p:sp>
    </p:spTree>
    <p:extLst>
      <p:ext uri="{BB962C8B-B14F-4D97-AF65-F5344CB8AC3E}">
        <p14:creationId xmlns:p14="http://schemas.microsoft.com/office/powerpoint/2010/main" val="27345791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Time series plots of 20th and 21st century climate change for user-selected locations and climate variables.</a:t>
            </a:r>
          </a:p>
          <a:p>
            <a:r>
              <a:rPr lang="en-US" sz="1200" b="0" i="0" kern="1200" dirty="0">
                <a:solidFill>
                  <a:schemeClr val="tx1"/>
                </a:solidFill>
                <a:effectLst/>
                <a:latin typeface="+mn-lt"/>
                <a:ea typeface="+mn-ea"/>
                <a:cs typeface="+mn-cs"/>
              </a:rPr>
              <a:t>Purposes of the plot:</a:t>
            </a:r>
          </a:p>
          <a:p>
            <a:r>
              <a:rPr lang="en-US" sz="1200" b="0" i="0" kern="1200" dirty="0">
                <a:solidFill>
                  <a:schemeClr val="tx1"/>
                </a:solidFill>
                <a:effectLst/>
                <a:latin typeface="+mn-lt"/>
                <a:ea typeface="+mn-ea"/>
                <a:cs typeface="+mn-cs"/>
              </a:rPr>
              <a:t>View differences in interannual variability and climate change trends among global climate models (GCMs)</a:t>
            </a:r>
          </a:p>
          <a:p>
            <a:r>
              <a:rPr lang="en-US" sz="1200" b="0" i="0" kern="1200" dirty="0">
                <a:solidFill>
                  <a:schemeClr val="tx1"/>
                </a:solidFill>
                <a:effectLst/>
                <a:latin typeface="+mn-lt"/>
                <a:ea typeface="+mn-ea"/>
                <a:cs typeface="+mn-cs"/>
              </a:rPr>
              <a:t>View the differences between multiple simulations of each model</a:t>
            </a:r>
          </a:p>
          <a:p>
            <a:r>
              <a:rPr lang="en-US" sz="1200" b="0" i="0" kern="1200" dirty="0">
                <a:solidFill>
                  <a:schemeClr val="tx1"/>
                </a:solidFill>
                <a:effectLst/>
                <a:latin typeface="+mn-lt"/>
                <a:ea typeface="+mn-ea"/>
                <a:cs typeface="+mn-cs"/>
              </a:rPr>
              <a:t>Compare simulated and observed climate change from 1901 to present</a:t>
            </a:r>
          </a:p>
          <a:p>
            <a:r>
              <a:rPr lang="en-US" sz="1200" b="0" i="0" kern="1200" dirty="0">
                <a:solidFill>
                  <a:schemeClr val="tx1"/>
                </a:solidFill>
                <a:effectLst/>
                <a:latin typeface="+mn-lt"/>
                <a:ea typeface="+mn-ea"/>
                <a:cs typeface="+mn-cs"/>
              </a:rPr>
              <a:t>Compare time series of two different variables</a:t>
            </a:r>
          </a:p>
          <a:p>
            <a:r>
              <a:rPr lang="en-US" sz="1200" b="0" i="0" kern="1200">
                <a:solidFill>
                  <a:schemeClr val="tx1"/>
                </a:solidFill>
                <a:effectLst/>
                <a:latin typeface="+mn-lt"/>
                <a:ea typeface="+mn-ea"/>
                <a:cs typeface="+mn-cs"/>
              </a:rPr>
              <a:t>All global climate model anomalies are bias-corrected to the 1961-1990 reference period normals.</a:t>
            </a:r>
          </a:p>
          <a:p>
            <a:endParaRPr lang="en-US"/>
          </a:p>
        </p:txBody>
      </p:sp>
      <p:sp>
        <p:nvSpPr>
          <p:cNvPr id="4" name="Slide Number Placeholder 3"/>
          <p:cNvSpPr>
            <a:spLocks noGrp="1"/>
          </p:cNvSpPr>
          <p:nvPr>
            <p:ph type="sldNum" sz="quarter" idx="5"/>
          </p:nvPr>
        </p:nvSpPr>
        <p:spPr/>
        <p:txBody>
          <a:bodyPr/>
          <a:lstStyle/>
          <a:p>
            <a:fld id="{17D51559-7ED9-4495-A3C0-DDB2E926809E}" type="slidenum">
              <a:rPr lang="en-CA" smtClean="0"/>
              <a:t>1</a:t>
            </a:fld>
            <a:endParaRPr lang="en-CA"/>
          </a:p>
        </p:txBody>
      </p:sp>
    </p:spTree>
    <p:extLst>
      <p:ext uri="{BB962C8B-B14F-4D97-AF65-F5344CB8AC3E}">
        <p14:creationId xmlns:p14="http://schemas.microsoft.com/office/powerpoint/2010/main" val="484972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Bivariate climate change plot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bivariate plots show projections of 21st century climate change for user-selected climate variables. The main purposes of the plot are to:</a:t>
            </a:r>
          </a:p>
          <a:p>
            <a:r>
              <a:rPr lang="en-US" sz="1200" b="0" i="0" kern="1200" dirty="0">
                <a:solidFill>
                  <a:schemeClr val="tx1"/>
                </a:solidFill>
                <a:effectLst/>
                <a:latin typeface="+mn-lt"/>
                <a:ea typeface="+mn-ea"/>
                <a:cs typeface="+mn-cs"/>
              </a:rPr>
              <a:t>- Show differences in climate change trends among global climate models (GCMs); </a:t>
            </a:r>
          </a:p>
          <a:p>
            <a:r>
              <a:rPr lang="en-US" sz="1200" b="0" i="0" kern="1200" dirty="0">
                <a:solidFill>
                  <a:schemeClr val="tx1"/>
                </a:solidFill>
                <a:effectLst/>
                <a:latin typeface="+mn-lt"/>
                <a:ea typeface="+mn-ea"/>
                <a:cs typeface="+mn-cs"/>
              </a:rPr>
              <a:t>- Show the differences between multiple simulations of each model; and </a:t>
            </a:r>
          </a:p>
          <a:p>
            <a:pPr marL="0" indent="0">
              <a:buFontTx/>
              <a:buNone/>
            </a:pPr>
            <a:r>
              <a:rPr lang="en-US" sz="1200" b="0" i="0" kern="1200" dirty="0">
                <a:solidFill>
                  <a:schemeClr val="tx1"/>
                </a:solidFill>
                <a:effectLst/>
                <a:latin typeface="+mn-lt"/>
                <a:ea typeface="+mn-ea"/>
                <a:cs typeface="+mn-cs"/>
              </a:rPr>
              <a:t>- Compare simulated climate change to observed climate change in the 2001-2020 period. </a:t>
            </a:r>
          </a:p>
          <a:p>
            <a:r>
              <a:rPr lang="en-US" sz="1200" b="0" i="0" kern="1200" dirty="0">
                <a:solidFill>
                  <a:schemeClr val="tx1"/>
                </a:solidFill>
                <a:effectLst/>
                <a:latin typeface="+mn-lt"/>
                <a:ea typeface="+mn-ea"/>
                <a:cs typeface="+mn-cs"/>
              </a:rPr>
              <a:t>All climate changes are relative to the 1961-1990 reference period normals.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recommend using temperature variables as the x-axis. This provides a representation of how the y-axis variable is projected to change in proportion to regional climate heating.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Details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 All climate changes are relative to the mean climate of the 1961-1990 period.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0" i="0" kern="1200" dirty="0">
                <a:solidFill>
                  <a:schemeClr val="tx1"/>
                </a:solidFill>
                <a:effectLst/>
                <a:latin typeface="+mn-lt"/>
                <a:ea typeface="+mn-ea"/>
                <a:cs typeface="+mn-cs"/>
              </a:rPr>
              <a:t>The observed climate change in the 2001-2020 period is obtained from the MSWX-blend dataset.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0" i="0" kern="1200" dirty="0">
                <a:solidFill>
                  <a:schemeClr val="tx1"/>
                </a:solidFill>
                <a:effectLst/>
                <a:latin typeface="+mn-lt"/>
                <a:ea typeface="+mn-ea"/>
                <a:cs typeface="+mn-cs"/>
              </a:rPr>
              <a:t>Change values are for the SSP2-4.5 emissions scenario only. We have not provided other scenarios as they tend to differ only in magnitude rather than trends and variation, which are the focus of this plot.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17D51559-7ED9-4495-A3C0-DDB2E926809E}" type="slidenum">
              <a:rPr lang="en-CA" smtClean="0"/>
              <a:t>2</a:t>
            </a:fld>
            <a:endParaRPr lang="en-CA"/>
          </a:p>
        </p:txBody>
      </p:sp>
    </p:spTree>
    <p:extLst>
      <p:ext uri="{BB962C8B-B14F-4D97-AF65-F5344CB8AC3E}">
        <p14:creationId xmlns:p14="http://schemas.microsoft.com/office/powerpoint/2010/main" val="10385882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Walter-Lieth climate diagram was developed by German climatologists Heinrich Walter and Helmut Lieth in the 1950s–60s as part of their efforts to standardize the visualization of climate data for ecological zoning and global vegetation classification. The diagrams are a simple way to graphically represent seasonal patterns of temperature and precipitation at a given location, and to compare the climates of different regions.</a:t>
            </a:r>
          </a:p>
          <a:p>
            <a:endParaRPr lang="en-US" dirty="0"/>
          </a:p>
          <a:p>
            <a:r>
              <a:rPr lang="en-US" dirty="0"/>
              <a:t>The diagram provides an overview of climate seasonality using a dual-axis plot. </a:t>
            </a:r>
          </a:p>
          <a:p>
            <a:r>
              <a:rPr lang="en-US" b="1" dirty="0"/>
              <a:t>- Temperature (°C)</a:t>
            </a:r>
            <a:r>
              <a:rPr lang="en-US" dirty="0"/>
              <a:t> is plotted on the left vertical axis.</a:t>
            </a:r>
          </a:p>
          <a:p>
            <a:r>
              <a:rPr lang="en-US" b="1" dirty="0"/>
              <a:t>- Precipitation (mm)</a:t>
            </a:r>
            <a:r>
              <a:rPr lang="en-US" dirty="0"/>
              <a:t> is plotted on the right, typically at a scale where </a:t>
            </a:r>
            <a:r>
              <a:rPr lang="en-US" b="1" dirty="0"/>
              <a:t>2 mm of precipitation corresponds to 1°C</a:t>
            </a:r>
            <a:r>
              <a:rPr lang="en-US" dirty="0"/>
              <a:t> (the 1:2 ratio).</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1:2 scaling allows for a simplified identification of arid periods. However, this is only a rough proxy for climatic moisture deficit and does not directly integrate potential evapotranspiration and relevant factors like wind, humidity, or radiation. Therefore, the diagram should not be interpreted as a quantitative water balance diagram.  </a:t>
            </a:r>
          </a:p>
          <a:p>
            <a:endParaRPr lang="en-US" dirty="0"/>
          </a:p>
          <a:p>
            <a:endParaRPr lang="en-CA" dirty="0"/>
          </a:p>
        </p:txBody>
      </p:sp>
      <p:sp>
        <p:nvSpPr>
          <p:cNvPr id="4" name="Slide Number Placeholder 3"/>
          <p:cNvSpPr>
            <a:spLocks noGrp="1"/>
          </p:cNvSpPr>
          <p:nvPr>
            <p:ph type="sldNum" sz="quarter" idx="5"/>
          </p:nvPr>
        </p:nvSpPr>
        <p:spPr/>
        <p:txBody>
          <a:bodyPr/>
          <a:lstStyle/>
          <a:p>
            <a:fld id="{17D51559-7ED9-4495-A3C0-DDB2E926809E}" type="slidenum">
              <a:rPr lang="en-CA" smtClean="0"/>
              <a:t>3</a:t>
            </a:fld>
            <a:endParaRPr lang="en-CA"/>
          </a:p>
        </p:txBody>
      </p:sp>
    </p:spTree>
    <p:extLst>
      <p:ext uri="{BB962C8B-B14F-4D97-AF65-F5344CB8AC3E}">
        <p14:creationId xmlns:p14="http://schemas.microsoft.com/office/powerpoint/2010/main" val="33646975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7D51559-7ED9-4495-A3C0-DDB2E926809E}" type="slidenum">
              <a:rPr lang="en-CA" smtClean="0"/>
              <a:t>4</a:t>
            </a:fld>
            <a:endParaRPr lang="en-CA"/>
          </a:p>
        </p:txBody>
      </p:sp>
    </p:spTree>
    <p:extLst>
      <p:ext uri="{BB962C8B-B14F-4D97-AF65-F5344CB8AC3E}">
        <p14:creationId xmlns:p14="http://schemas.microsoft.com/office/powerpoint/2010/main" val="34724962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3050C-C31A-921D-856A-A2FD1C09BAE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B13EFCE7-3CB9-480D-6D4C-5C4EEDE5491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93CE9B07-F0E1-2177-C835-1BB46E388405}"/>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4C5FF4B4-0715-0048-F25B-D492C4CF1585}"/>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FACBCAF-5705-84D2-959A-94B81D2652D4}"/>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5812706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DE3B6-3668-3E44-2572-81DDD0A1AF63}"/>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B20D7267-955C-4666-BBCE-1ADFE8306D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C2121F46-D82F-AC4D-BD00-7B591C49D189}"/>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6814C300-2932-5A05-0D34-8F6A6D2EEBE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342871C-6C19-0363-9FB9-97A85D3DECB8}"/>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12714510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05809-95D5-4872-CBE8-D683F3447F8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3A19099E-94ED-FB3F-E063-80D88C6A8F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9191FD8-BD31-04F1-E8D7-1816B74AF8A4}"/>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3002078A-C64C-1A47-48E0-DE61BF0D4625}"/>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55B77884-C43C-18D4-303F-C2C1CDED3BC1}"/>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7146096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6FE32-BCCC-4E24-97B1-0519337B0A8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97B7DC3-8FB1-5FF3-EDFF-C25C5E33027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AC7FD5A5-0CD3-17B7-D883-C6A1B1A42F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FECA7089-8014-359D-5748-DCAE75050F51}"/>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6" name="Footer Placeholder 5">
            <a:extLst>
              <a:ext uri="{FF2B5EF4-FFF2-40B4-BE49-F238E27FC236}">
                <a16:creationId xmlns:a16="http://schemas.microsoft.com/office/drawing/2014/main" id="{369143E3-B45A-7849-63C4-F25FFE0DA3D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E0195C67-FC53-725F-3D2F-6405CE058F3E}"/>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36809723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D8C00-5528-A56F-9FFC-71DA66D2245D}"/>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E9FA3F65-8985-5F43-8AF2-C01C6ADBE4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E16524-6C50-A404-95D0-14015B9A65B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570BAD97-4821-0E89-41CD-4B2B9941328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9EFDC59-3572-6BBC-DBB4-6C3769F97DD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C038F330-DD7C-0050-D48D-CD3802E3DD5F}"/>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8" name="Footer Placeholder 7">
            <a:extLst>
              <a:ext uri="{FF2B5EF4-FFF2-40B4-BE49-F238E27FC236}">
                <a16:creationId xmlns:a16="http://schemas.microsoft.com/office/drawing/2014/main" id="{6CC2E5F3-F565-C6F7-816E-47C702E0C385}"/>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C90582EB-E961-D976-B934-EFA17FF99657}"/>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13436117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00BBD-B15A-DC0D-29A2-42D03304D267}"/>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D6EDB054-AE2E-5C35-9B21-6E9EDBC2AF69}"/>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4" name="Footer Placeholder 3">
            <a:extLst>
              <a:ext uri="{FF2B5EF4-FFF2-40B4-BE49-F238E27FC236}">
                <a16:creationId xmlns:a16="http://schemas.microsoft.com/office/drawing/2014/main" id="{189808EF-AFE9-58A6-122B-F4938CA06DBE}"/>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25AE2EF7-E2D9-79C7-8F72-D9BBD32A3A60}"/>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471726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63873AD-5A6E-6051-BDB8-1CEF716E1B52}"/>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3" name="Footer Placeholder 2">
            <a:extLst>
              <a:ext uri="{FF2B5EF4-FFF2-40B4-BE49-F238E27FC236}">
                <a16:creationId xmlns:a16="http://schemas.microsoft.com/office/drawing/2014/main" id="{2C1B7006-F183-F1A8-870A-E7E358758A0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F93BBC9-9ABF-B75E-E201-0E127936EC13}"/>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8712603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9C85A-948A-1D12-6745-D8B2D18BAB0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469F251-1E24-F326-4558-4F6B4AD4FF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2C85AAC8-77F5-7139-1DB0-E37206FA7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CA8B8F-265E-0A56-455B-F25D951B32B8}"/>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6" name="Footer Placeholder 5">
            <a:extLst>
              <a:ext uri="{FF2B5EF4-FFF2-40B4-BE49-F238E27FC236}">
                <a16:creationId xmlns:a16="http://schemas.microsoft.com/office/drawing/2014/main" id="{BAEF1633-0E32-E819-4C49-9F04D4C85F07}"/>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51C35B2-D068-AB8F-BA3F-38A6A67E9439}"/>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17606533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6D853-7F62-0DA7-B88D-6339068218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BE666BA7-7D1B-C4E3-ED88-741A38CBB7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AB0CF002-FC3D-E8BA-7F31-7A70A1B629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B19B574-7B7A-EF14-6235-7E5E63481D2E}"/>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6" name="Footer Placeholder 5">
            <a:extLst>
              <a:ext uri="{FF2B5EF4-FFF2-40B4-BE49-F238E27FC236}">
                <a16:creationId xmlns:a16="http://schemas.microsoft.com/office/drawing/2014/main" id="{B86F3296-2361-1016-184B-06ED9F293526}"/>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5F25AD2C-439E-5B34-7CF0-4BF4D6502CC5}"/>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24427479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13A3F-7DF0-2B68-32FD-63245F2EBD95}"/>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180EC17D-05C3-94A7-1DAF-A2C70F97A53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939DD740-7266-3F09-3F13-61BA9604AAE4}"/>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61EDB86A-8335-41FF-4AA2-0810DDE3DE6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C6684A6D-0141-4C7B-A4E4-88B5BC829EB1}"/>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1821450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DD4D18-0118-F1F8-4378-D6811AC9FFB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772DB31-E2B5-14E2-8CAF-2CF0ED066E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970A14AE-43AA-204A-5BFD-4781B359B2D2}"/>
              </a:ext>
            </a:extLst>
          </p:cNvPr>
          <p:cNvSpPr>
            <a:spLocks noGrp="1"/>
          </p:cNvSpPr>
          <p:nvPr>
            <p:ph type="dt" sz="half" idx="10"/>
          </p:nvPr>
        </p:nvSpPr>
        <p:spPr/>
        <p:txBody>
          <a:body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CA06EDC3-534F-4A20-4B95-1514B826E79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3E982C68-322E-C7BF-12FE-F313C83A3E52}"/>
              </a:ext>
            </a:extLst>
          </p:cNvPr>
          <p:cNvSpPr>
            <a:spLocks noGrp="1"/>
          </p:cNvSpPr>
          <p:nvPr>
            <p:ph type="sldNum" sz="quarter" idx="12"/>
          </p:nvPr>
        </p:nvSpPr>
        <p:spPr/>
        <p:txBody>
          <a:bodyPr/>
          <a:lstStyle/>
          <a:p>
            <a:fld id="{585AAF48-78CA-4A04-A59B-610374FE5B4F}" type="slidenum">
              <a:rPr lang="en-CA" smtClean="0"/>
              <a:t>‹#›</a:t>
            </a:fld>
            <a:endParaRPr lang="en-CA"/>
          </a:p>
        </p:txBody>
      </p:sp>
    </p:spTree>
    <p:extLst>
      <p:ext uri="{BB962C8B-B14F-4D97-AF65-F5344CB8AC3E}">
        <p14:creationId xmlns:p14="http://schemas.microsoft.com/office/powerpoint/2010/main" val="33767789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499F9C-D597-1288-AFD0-DA07322B60C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78FFDF0F-C156-71B1-A901-477C5DF04D5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E08A456-78CA-C0DF-8854-2CBD070BE67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C129C08-9FBA-4F8A-A6CA-6871A16D534D}" type="datetimeFigureOut">
              <a:rPr lang="en-CA" smtClean="0"/>
              <a:t>2025-07-15</a:t>
            </a:fld>
            <a:endParaRPr lang="en-CA"/>
          </a:p>
        </p:txBody>
      </p:sp>
      <p:sp>
        <p:nvSpPr>
          <p:cNvPr id="5" name="Footer Placeholder 4">
            <a:extLst>
              <a:ext uri="{FF2B5EF4-FFF2-40B4-BE49-F238E27FC236}">
                <a16:creationId xmlns:a16="http://schemas.microsoft.com/office/drawing/2014/main" id="{E58FE2D4-F2F8-7E25-2890-7CE6F583CAC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ABFF6D19-2461-FF04-8422-B3E95B1B853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85AAF48-78CA-4A04-A59B-610374FE5B4F}" type="slidenum">
              <a:rPr lang="en-CA" smtClean="0"/>
              <a:t>‹#›</a:t>
            </a:fld>
            <a:endParaRPr lang="en-CA"/>
          </a:p>
        </p:txBody>
      </p:sp>
    </p:spTree>
    <p:extLst>
      <p:ext uri="{BB962C8B-B14F-4D97-AF65-F5344CB8AC3E}">
        <p14:creationId xmlns:p14="http://schemas.microsoft.com/office/powerpoint/2010/main" val="729110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svg"/><Relationship Id="rId18" Type="http://schemas.openxmlformats.org/officeDocument/2006/relationships/image" Target="../media/image16.pn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png"/><Relationship Id="rId17" Type="http://schemas.openxmlformats.org/officeDocument/2006/relationships/image" Target="../media/image15.svg"/><Relationship Id="rId2" Type="http://schemas.openxmlformats.org/officeDocument/2006/relationships/notesSlide" Target="../notesSlides/notesSlide1.xml"/><Relationship Id="rId16" Type="http://schemas.openxmlformats.org/officeDocument/2006/relationships/image" Target="../media/image14.png"/><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png"/><Relationship Id="rId19" Type="http://schemas.openxmlformats.org/officeDocument/2006/relationships/image" Target="../media/image17.sv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pn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svg"/><Relationship Id="rId3" Type="http://schemas.openxmlformats.org/officeDocument/2006/relationships/image" Target="../media/image18.png"/><Relationship Id="rId7" Type="http://schemas.openxmlformats.org/officeDocument/2006/relationships/image" Target="../media/image5.svg"/><Relationship Id="rId12"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png"/></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svg"/><Relationship Id="rId18" Type="http://schemas.openxmlformats.org/officeDocument/2006/relationships/image" Target="../media/image16.png"/><Relationship Id="rId3" Type="http://schemas.openxmlformats.org/officeDocument/2006/relationships/image" Target="../media/image19.png"/><Relationship Id="rId7" Type="http://schemas.openxmlformats.org/officeDocument/2006/relationships/image" Target="../media/image5.svg"/><Relationship Id="rId12" Type="http://schemas.openxmlformats.org/officeDocument/2006/relationships/image" Target="../media/image10.png"/><Relationship Id="rId17" Type="http://schemas.openxmlformats.org/officeDocument/2006/relationships/image" Target="../media/image15.svg"/><Relationship Id="rId2" Type="http://schemas.openxmlformats.org/officeDocument/2006/relationships/notesSlide" Target="../notesSlides/notesSlide3.xml"/><Relationship Id="rId16"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png"/><Relationship Id="rId19" Type="http://schemas.openxmlformats.org/officeDocument/2006/relationships/image" Target="../media/image17.sv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FCDE7AC0-D6FB-9C7C-C023-D2A1C06B91E8}"/>
              </a:ext>
            </a:extLst>
          </p:cNvPr>
          <p:cNvPicPr>
            <a:picLocks noChangeAspect="1"/>
          </p:cNvPicPr>
          <p:nvPr/>
        </p:nvPicPr>
        <p:blipFill>
          <a:blip r:embed="rId3"/>
          <a:stretch>
            <a:fillRect/>
          </a:stretch>
        </p:blipFill>
        <p:spPr>
          <a:xfrm>
            <a:off x="258632" y="594796"/>
            <a:ext cx="8224967" cy="5945760"/>
          </a:xfrm>
          <a:prstGeom prst="rect">
            <a:avLst/>
          </a:prstGeom>
        </p:spPr>
      </p:pic>
      <p:sp>
        <p:nvSpPr>
          <p:cNvPr id="5" name="TextBox 4">
            <a:extLst>
              <a:ext uri="{FF2B5EF4-FFF2-40B4-BE49-F238E27FC236}">
                <a16:creationId xmlns:a16="http://schemas.microsoft.com/office/drawing/2014/main" id="{A33E5FA7-AC3B-0956-4B6D-343DDCA01154}"/>
              </a:ext>
            </a:extLst>
          </p:cNvPr>
          <p:cNvSpPr txBox="1"/>
          <p:nvPr/>
        </p:nvSpPr>
        <p:spPr>
          <a:xfrm>
            <a:off x="711200" y="120133"/>
            <a:ext cx="7112000" cy="369332"/>
          </a:xfrm>
          <a:prstGeom prst="rect">
            <a:avLst/>
          </a:prstGeom>
          <a:noFill/>
        </p:spPr>
        <p:txBody>
          <a:bodyPr wrap="square" rtlCol="0">
            <a:spAutoFit/>
          </a:bodyPr>
          <a:lstStyle/>
          <a:p>
            <a:pPr algn="ctr"/>
            <a:r>
              <a:rPr lang="en-CA" dirty="0"/>
              <a:t>Time Series Plot for Mackenzie FLP Area</a:t>
            </a:r>
          </a:p>
        </p:txBody>
      </p:sp>
      <p:pic>
        <p:nvPicPr>
          <p:cNvPr id="7" name="Graphic 6" descr="Badge 1 with solid fill">
            <a:extLst>
              <a:ext uri="{FF2B5EF4-FFF2-40B4-BE49-F238E27FC236}">
                <a16:creationId xmlns:a16="http://schemas.microsoft.com/office/drawing/2014/main" id="{FB0B4757-0E6A-7323-C3E5-C417BD765F5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8159" y="6142623"/>
            <a:ext cx="397933" cy="397933"/>
          </a:xfrm>
          <a:prstGeom prst="rect">
            <a:avLst/>
          </a:prstGeom>
        </p:spPr>
      </p:pic>
      <p:pic>
        <p:nvPicPr>
          <p:cNvPr id="9" name="Graphic 8" descr="Badge with solid fill">
            <a:extLst>
              <a:ext uri="{FF2B5EF4-FFF2-40B4-BE49-F238E27FC236}">
                <a16:creationId xmlns:a16="http://schemas.microsoft.com/office/drawing/2014/main" id="{743F1833-21AE-7636-90B6-492ACEB8C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9664" y="1921934"/>
            <a:ext cx="397933" cy="397933"/>
          </a:xfrm>
          <a:prstGeom prst="rect">
            <a:avLst/>
          </a:prstGeom>
        </p:spPr>
      </p:pic>
      <p:pic>
        <p:nvPicPr>
          <p:cNvPr id="11" name="Graphic 10" descr="Badge 3 with solid fill">
            <a:extLst>
              <a:ext uri="{FF2B5EF4-FFF2-40B4-BE49-F238E27FC236}">
                <a16:creationId xmlns:a16="http://schemas.microsoft.com/office/drawing/2014/main" id="{998CA284-83DD-54CA-CC21-80A213CB57C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670068" y="4070623"/>
            <a:ext cx="397933" cy="397933"/>
          </a:xfrm>
          <a:prstGeom prst="rect">
            <a:avLst/>
          </a:prstGeom>
        </p:spPr>
      </p:pic>
      <p:pic>
        <p:nvPicPr>
          <p:cNvPr id="13" name="Graphic 12" descr="Badge 4 with solid fill">
            <a:extLst>
              <a:ext uri="{FF2B5EF4-FFF2-40B4-BE49-F238E27FC236}">
                <a16:creationId xmlns:a16="http://schemas.microsoft.com/office/drawing/2014/main" id="{DFD9ECC7-DD5B-B065-1573-2334F30F49C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338697" y="4468556"/>
            <a:ext cx="397933" cy="397933"/>
          </a:xfrm>
          <a:prstGeom prst="rect">
            <a:avLst/>
          </a:prstGeom>
        </p:spPr>
      </p:pic>
      <p:pic>
        <p:nvPicPr>
          <p:cNvPr id="15" name="Graphic 14" descr="Badge 5 with solid fill">
            <a:extLst>
              <a:ext uri="{FF2B5EF4-FFF2-40B4-BE49-F238E27FC236}">
                <a16:creationId xmlns:a16="http://schemas.microsoft.com/office/drawing/2014/main" id="{F6532393-E3DD-9310-BC22-B7AF8BB8C82A}"/>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6883400" y="1456267"/>
            <a:ext cx="397933" cy="397933"/>
          </a:xfrm>
          <a:prstGeom prst="rect">
            <a:avLst/>
          </a:prstGeom>
        </p:spPr>
      </p:pic>
      <p:pic>
        <p:nvPicPr>
          <p:cNvPr id="17" name="Graphic 16" descr="Badge 6 with solid fill">
            <a:extLst>
              <a:ext uri="{FF2B5EF4-FFF2-40B4-BE49-F238E27FC236}">
                <a16:creationId xmlns:a16="http://schemas.microsoft.com/office/drawing/2014/main" id="{AC611DA0-732D-62AE-FF33-DF4FE4F0A430}"/>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7316139" y="2511065"/>
            <a:ext cx="397933" cy="397933"/>
          </a:xfrm>
          <a:prstGeom prst="rect">
            <a:avLst/>
          </a:prstGeom>
        </p:spPr>
      </p:pic>
      <p:sp>
        <p:nvSpPr>
          <p:cNvPr id="18" name="TextBox 17">
            <a:extLst>
              <a:ext uri="{FF2B5EF4-FFF2-40B4-BE49-F238E27FC236}">
                <a16:creationId xmlns:a16="http://schemas.microsoft.com/office/drawing/2014/main" id="{E28C8080-A2B1-5AFF-E87E-310CD697845E}"/>
              </a:ext>
            </a:extLst>
          </p:cNvPr>
          <p:cNvSpPr txBox="1"/>
          <p:nvPr/>
        </p:nvSpPr>
        <p:spPr>
          <a:xfrm>
            <a:off x="9173941" y="428178"/>
            <a:ext cx="2870200" cy="6001643"/>
          </a:xfrm>
          <a:prstGeom prst="rect">
            <a:avLst/>
          </a:prstGeom>
          <a:noFill/>
        </p:spPr>
        <p:txBody>
          <a:bodyPr wrap="square" rtlCol="0">
            <a:spAutoFit/>
          </a:bodyPr>
          <a:lstStyle/>
          <a:p>
            <a:r>
              <a:rPr lang="en-CA" sz="1200" dirty="0"/>
              <a:t>Year 1901-2100 on the x-axis</a:t>
            </a:r>
          </a:p>
          <a:p>
            <a:endParaRPr lang="en-CA" sz="1200" dirty="0"/>
          </a:p>
          <a:p>
            <a:r>
              <a:rPr lang="en-CA" sz="1200" dirty="0"/>
              <a:t>User-selected climate variable on the y-axis</a:t>
            </a:r>
          </a:p>
          <a:p>
            <a:endParaRPr lang="en-CA" sz="1200" dirty="0"/>
          </a:p>
          <a:p>
            <a:r>
              <a:rPr lang="en-CA" sz="1200" dirty="0"/>
              <a:t>Observed historic climate data by dataset (</a:t>
            </a:r>
            <a:r>
              <a:rPr lang="en-CA" sz="1200" b="1" dirty="0"/>
              <a:t>black</a:t>
            </a:r>
            <a:r>
              <a:rPr lang="en-CA" sz="1200" dirty="0"/>
              <a:t>, </a:t>
            </a:r>
            <a:r>
              <a:rPr lang="en-CA" sz="1200" b="1" dirty="0">
                <a:solidFill>
                  <a:srgbClr val="F50C0A"/>
                </a:solidFill>
              </a:rPr>
              <a:t>red </a:t>
            </a:r>
            <a:r>
              <a:rPr lang="en-CA" sz="1200" dirty="0"/>
              <a:t>and </a:t>
            </a:r>
            <a:r>
              <a:rPr lang="en-CA" sz="1200" b="1" dirty="0">
                <a:solidFill>
                  <a:srgbClr val="0000FF"/>
                </a:solidFill>
              </a:rPr>
              <a:t>blue </a:t>
            </a:r>
            <a:r>
              <a:rPr lang="en-CA" sz="1200" dirty="0"/>
              <a:t>lines), from 1901-2024</a:t>
            </a:r>
          </a:p>
          <a:p>
            <a:endParaRPr lang="en-CA" sz="1200" dirty="0"/>
          </a:p>
          <a:p>
            <a:r>
              <a:rPr lang="en-CA" sz="1200" dirty="0"/>
              <a:t>Generalized range (min to max) of simulated historical year-to-year variability in the ensemble of 8 global climate models (GCMs), from 1901-2014 (</a:t>
            </a:r>
            <a:r>
              <a:rPr lang="en-CA" sz="1200" b="1" dirty="0">
                <a:solidFill>
                  <a:schemeClr val="bg2">
                    <a:lumMod val="50000"/>
                  </a:schemeClr>
                </a:solidFill>
              </a:rPr>
              <a:t>gray </a:t>
            </a:r>
            <a:r>
              <a:rPr lang="en-CA" sz="1200" dirty="0"/>
              <a:t>shading)</a:t>
            </a:r>
          </a:p>
          <a:p>
            <a:endParaRPr lang="en-CA" sz="1200" dirty="0"/>
          </a:p>
          <a:p>
            <a:r>
              <a:rPr lang="en-CA" sz="1200" dirty="0"/>
              <a:t>Generalized range (min to max) of year-to-year variability the GCM ensemble for each SSP emissions scenario (</a:t>
            </a:r>
            <a:r>
              <a:rPr lang="en-CA" sz="1200" b="1" dirty="0">
                <a:solidFill>
                  <a:srgbClr val="5681AD"/>
                </a:solidFill>
              </a:rPr>
              <a:t>blue</a:t>
            </a:r>
            <a:r>
              <a:rPr lang="en-CA" sz="1200" dirty="0"/>
              <a:t>, </a:t>
            </a:r>
            <a:r>
              <a:rPr lang="en-CA" sz="1200" b="1" dirty="0">
                <a:solidFill>
                  <a:srgbClr val="6FAF8B"/>
                </a:solidFill>
              </a:rPr>
              <a:t>green</a:t>
            </a:r>
            <a:r>
              <a:rPr lang="en-CA" sz="1200" dirty="0"/>
              <a:t>, and </a:t>
            </a:r>
            <a:r>
              <a:rPr lang="en-CA" sz="1200" b="1" dirty="0">
                <a:solidFill>
                  <a:srgbClr val="DC954F"/>
                </a:solidFill>
              </a:rPr>
              <a:t>orange </a:t>
            </a:r>
            <a:r>
              <a:rPr lang="en-CA" sz="1200" dirty="0"/>
              <a:t>shading), from 2015-2100</a:t>
            </a:r>
          </a:p>
          <a:p>
            <a:endParaRPr lang="en-CA" sz="1200" dirty="0"/>
          </a:p>
          <a:p>
            <a:r>
              <a:rPr lang="en-CA" sz="1200" dirty="0"/>
              <a:t>Generalized ensemble mean, by SSP (</a:t>
            </a:r>
            <a:r>
              <a:rPr lang="en-CA" sz="1200" b="1" dirty="0">
                <a:solidFill>
                  <a:srgbClr val="5681AD"/>
                </a:solidFill>
              </a:rPr>
              <a:t>blue</a:t>
            </a:r>
            <a:r>
              <a:rPr lang="en-CA" sz="1200" dirty="0"/>
              <a:t>, </a:t>
            </a:r>
            <a:r>
              <a:rPr lang="en-CA" sz="1200" b="1" dirty="0">
                <a:solidFill>
                  <a:srgbClr val="6FAF8B"/>
                </a:solidFill>
              </a:rPr>
              <a:t>green</a:t>
            </a:r>
            <a:r>
              <a:rPr lang="en-CA" sz="1200" dirty="0"/>
              <a:t>, and </a:t>
            </a:r>
            <a:r>
              <a:rPr lang="en-CA" sz="1200" b="1" dirty="0">
                <a:solidFill>
                  <a:srgbClr val="DC954F"/>
                </a:solidFill>
              </a:rPr>
              <a:t>orange </a:t>
            </a:r>
            <a:r>
              <a:rPr lang="en-CA" sz="1200" dirty="0"/>
              <a:t>lines), from 2015-2100</a:t>
            </a:r>
          </a:p>
          <a:p>
            <a:endParaRPr lang="en-CA" sz="1200" dirty="0"/>
          </a:p>
          <a:p>
            <a:r>
              <a:rPr lang="en-CA" sz="1200" dirty="0"/>
              <a:t>Change in the ensemble mean for each SSP at year 2100 relative to the 1961-1990 baseline</a:t>
            </a:r>
          </a:p>
          <a:p>
            <a:endParaRPr lang="en-CA" sz="1200" dirty="0"/>
          </a:p>
          <a:p>
            <a:r>
              <a:rPr lang="en-CA" sz="1200" dirty="0"/>
              <a:t>1961-1990 baseline</a:t>
            </a:r>
          </a:p>
          <a:p>
            <a:endParaRPr lang="en-CA" sz="1200" dirty="0"/>
          </a:p>
          <a:p>
            <a:endParaRPr lang="en-CA" sz="1200" dirty="0"/>
          </a:p>
        </p:txBody>
      </p:sp>
      <p:pic>
        <p:nvPicPr>
          <p:cNvPr id="19" name="Graphic 18" descr="Badge 1 with solid fill">
            <a:extLst>
              <a:ext uri="{FF2B5EF4-FFF2-40B4-BE49-F238E27FC236}">
                <a16:creationId xmlns:a16="http://schemas.microsoft.com/office/drawing/2014/main" id="{52F208AE-DF49-F54C-DCD1-A3E6BA0D5B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816697" y="346538"/>
            <a:ext cx="397933" cy="397933"/>
          </a:xfrm>
          <a:prstGeom prst="rect">
            <a:avLst/>
          </a:prstGeom>
        </p:spPr>
      </p:pic>
      <p:pic>
        <p:nvPicPr>
          <p:cNvPr id="20" name="Graphic 19" descr="Badge with solid fill">
            <a:extLst>
              <a:ext uri="{FF2B5EF4-FFF2-40B4-BE49-F238E27FC236}">
                <a16:creationId xmlns:a16="http://schemas.microsoft.com/office/drawing/2014/main" id="{D4DC849F-769C-61CA-356D-A5A07E704E4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16695" y="761950"/>
            <a:ext cx="397933" cy="397933"/>
          </a:xfrm>
          <a:prstGeom prst="rect">
            <a:avLst/>
          </a:prstGeom>
        </p:spPr>
      </p:pic>
      <p:pic>
        <p:nvPicPr>
          <p:cNvPr id="21" name="Graphic 20" descr="Badge 3 with solid fill">
            <a:extLst>
              <a:ext uri="{FF2B5EF4-FFF2-40B4-BE49-F238E27FC236}">
                <a16:creationId xmlns:a16="http://schemas.microsoft.com/office/drawing/2014/main" id="{15AB0CFB-A908-58BF-CA52-D633D168255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835587" y="1358877"/>
            <a:ext cx="397933" cy="397933"/>
          </a:xfrm>
          <a:prstGeom prst="rect">
            <a:avLst/>
          </a:prstGeom>
        </p:spPr>
      </p:pic>
      <p:pic>
        <p:nvPicPr>
          <p:cNvPr id="22" name="Graphic 21" descr="Badge 4 with solid fill">
            <a:extLst>
              <a:ext uri="{FF2B5EF4-FFF2-40B4-BE49-F238E27FC236}">
                <a16:creationId xmlns:a16="http://schemas.microsoft.com/office/drawing/2014/main" id="{93BABBFD-FC53-360A-36EE-97C75003C99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816695" y="2066274"/>
            <a:ext cx="397933" cy="397933"/>
          </a:xfrm>
          <a:prstGeom prst="rect">
            <a:avLst/>
          </a:prstGeom>
        </p:spPr>
      </p:pic>
      <p:pic>
        <p:nvPicPr>
          <p:cNvPr id="23" name="Graphic 22" descr="Badge 5 with solid fill">
            <a:extLst>
              <a:ext uri="{FF2B5EF4-FFF2-40B4-BE49-F238E27FC236}">
                <a16:creationId xmlns:a16="http://schemas.microsoft.com/office/drawing/2014/main" id="{EAFBBBCE-2F71-6085-B5B5-15844E22F33A}"/>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835587" y="3171659"/>
            <a:ext cx="397933" cy="397933"/>
          </a:xfrm>
          <a:prstGeom prst="rect">
            <a:avLst/>
          </a:prstGeom>
        </p:spPr>
      </p:pic>
      <p:pic>
        <p:nvPicPr>
          <p:cNvPr id="24" name="Graphic 23" descr="Badge 6 with solid fill">
            <a:extLst>
              <a:ext uri="{FF2B5EF4-FFF2-40B4-BE49-F238E27FC236}">
                <a16:creationId xmlns:a16="http://schemas.microsoft.com/office/drawing/2014/main" id="{5FA2F128-FD41-D48C-7FBC-6F735D82CB6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838467" y="4280774"/>
            <a:ext cx="397933" cy="397933"/>
          </a:xfrm>
          <a:prstGeom prst="rect">
            <a:avLst/>
          </a:prstGeom>
        </p:spPr>
      </p:pic>
      <p:pic>
        <p:nvPicPr>
          <p:cNvPr id="3" name="Graphic 2" descr="Badge 7 with solid fill">
            <a:extLst>
              <a:ext uri="{FF2B5EF4-FFF2-40B4-BE49-F238E27FC236}">
                <a16:creationId xmlns:a16="http://schemas.microsoft.com/office/drawing/2014/main" id="{09B16C52-0247-A310-A384-319A2C503ADA}"/>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8838467" y="5000210"/>
            <a:ext cx="369332" cy="369332"/>
          </a:xfrm>
          <a:prstGeom prst="rect">
            <a:avLst/>
          </a:prstGeom>
        </p:spPr>
      </p:pic>
      <p:pic>
        <p:nvPicPr>
          <p:cNvPr id="4" name="Graphic 3" descr="Badge 7 with solid fill">
            <a:extLst>
              <a:ext uri="{FF2B5EF4-FFF2-40B4-BE49-F238E27FC236}">
                <a16:creationId xmlns:a16="http://schemas.microsoft.com/office/drawing/2014/main" id="{A6E556EB-78C5-0DCD-C0CF-711A82844D2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7971675" y="1533039"/>
            <a:ext cx="369332" cy="369332"/>
          </a:xfrm>
          <a:prstGeom prst="rect">
            <a:avLst/>
          </a:prstGeom>
        </p:spPr>
      </p:pic>
      <p:pic>
        <p:nvPicPr>
          <p:cNvPr id="6" name="Graphic 5" descr="Badge 8 with solid fill">
            <a:extLst>
              <a:ext uri="{FF2B5EF4-FFF2-40B4-BE49-F238E27FC236}">
                <a16:creationId xmlns:a16="http://schemas.microsoft.com/office/drawing/2014/main" id="{C9C64992-64FB-9E47-1949-53187E8F7940}"/>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7823200" y="3966878"/>
            <a:ext cx="369332" cy="369332"/>
          </a:xfrm>
          <a:prstGeom prst="rect">
            <a:avLst/>
          </a:prstGeom>
        </p:spPr>
      </p:pic>
      <p:pic>
        <p:nvPicPr>
          <p:cNvPr id="8" name="Graphic 7" descr="Badge 8 with solid fill">
            <a:extLst>
              <a:ext uri="{FF2B5EF4-FFF2-40B4-BE49-F238E27FC236}">
                <a16:creationId xmlns:a16="http://schemas.microsoft.com/office/drawing/2014/main" id="{B31B5D97-AD40-DC0F-3827-13790CC253E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840843" y="5691045"/>
            <a:ext cx="369332" cy="369332"/>
          </a:xfrm>
          <a:prstGeom prst="rect">
            <a:avLst/>
          </a:prstGeom>
        </p:spPr>
      </p:pic>
      <p:cxnSp>
        <p:nvCxnSpPr>
          <p:cNvPr id="12" name="Straight Arrow Connector 11">
            <a:extLst>
              <a:ext uri="{FF2B5EF4-FFF2-40B4-BE49-F238E27FC236}">
                <a16:creationId xmlns:a16="http://schemas.microsoft.com/office/drawing/2014/main" id="{1641D3E4-9AF7-72F6-2FB6-7E4991FCEF4F}"/>
              </a:ext>
            </a:extLst>
          </p:cNvPr>
          <p:cNvCxnSpPr>
            <a:cxnSpLocks/>
          </p:cNvCxnSpPr>
          <p:nvPr/>
        </p:nvCxnSpPr>
        <p:spPr>
          <a:xfrm flipH="1" flipV="1">
            <a:off x="7082366" y="2434709"/>
            <a:ext cx="322286" cy="19896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A76AECE-E6EA-8F9D-3B41-3C8F87792E71}"/>
              </a:ext>
            </a:extLst>
          </p:cNvPr>
          <p:cNvCxnSpPr>
            <a:cxnSpLocks/>
          </p:cNvCxnSpPr>
          <p:nvPr/>
        </p:nvCxnSpPr>
        <p:spPr>
          <a:xfrm flipH="1">
            <a:off x="7134860" y="2713047"/>
            <a:ext cx="313690"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9E005CED-0509-FF2B-BA9E-01179FD84CB1}"/>
              </a:ext>
            </a:extLst>
          </p:cNvPr>
          <p:cNvCxnSpPr>
            <a:cxnSpLocks/>
          </p:cNvCxnSpPr>
          <p:nvPr/>
        </p:nvCxnSpPr>
        <p:spPr>
          <a:xfrm flipH="1">
            <a:off x="7098030" y="2750820"/>
            <a:ext cx="350520" cy="29337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720811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F4D6F6C-2469-8D8D-5056-3595F511AB02}"/>
              </a:ext>
            </a:extLst>
          </p:cNvPr>
          <p:cNvSpPr txBox="1"/>
          <p:nvPr/>
        </p:nvSpPr>
        <p:spPr>
          <a:xfrm>
            <a:off x="762000" y="202168"/>
            <a:ext cx="7112000" cy="369332"/>
          </a:xfrm>
          <a:prstGeom prst="rect">
            <a:avLst/>
          </a:prstGeom>
          <a:noFill/>
        </p:spPr>
        <p:txBody>
          <a:bodyPr wrap="square" rtlCol="0">
            <a:spAutoFit/>
          </a:bodyPr>
          <a:lstStyle/>
          <a:p>
            <a:pPr algn="ctr"/>
            <a:r>
              <a:rPr lang="en-CA" dirty="0"/>
              <a:t>Bivariate Plot for 100 Mile House FLP Area; 2041-2060</a:t>
            </a:r>
          </a:p>
        </p:txBody>
      </p:sp>
      <p:pic>
        <p:nvPicPr>
          <p:cNvPr id="7" name="Picture 6">
            <a:extLst>
              <a:ext uri="{FF2B5EF4-FFF2-40B4-BE49-F238E27FC236}">
                <a16:creationId xmlns:a16="http://schemas.microsoft.com/office/drawing/2014/main" id="{DBF67002-F22D-B339-EDCA-C7A51806176F}"/>
              </a:ext>
            </a:extLst>
          </p:cNvPr>
          <p:cNvPicPr>
            <a:picLocks noChangeAspect="1"/>
          </p:cNvPicPr>
          <p:nvPr/>
        </p:nvPicPr>
        <p:blipFill>
          <a:blip r:embed="rId3"/>
          <a:stretch>
            <a:fillRect/>
          </a:stretch>
        </p:blipFill>
        <p:spPr>
          <a:xfrm>
            <a:off x="365125" y="571500"/>
            <a:ext cx="7905750" cy="5715000"/>
          </a:xfrm>
          <a:prstGeom prst="rect">
            <a:avLst/>
          </a:prstGeom>
        </p:spPr>
      </p:pic>
      <p:pic>
        <p:nvPicPr>
          <p:cNvPr id="9" name="Graphic 8" descr="Badge 1 with solid fill">
            <a:extLst>
              <a:ext uri="{FF2B5EF4-FFF2-40B4-BE49-F238E27FC236}">
                <a16:creationId xmlns:a16="http://schemas.microsoft.com/office/drawing/2014/main" id="{F00034A7-C32A-AC50-EB6A-A06C672D870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1534" y="2295200"/>
            <a:ext cx="389467" cy="389467"/>
          </a:xfrm>
          <a:prstGeom prst="rect">
            <a:avLst/>
          </a:prstGeom>
        </p:spPr>
      </p:pic>
      <p:pic>
        <p:nvPicPr>
          <p:cNvPr id="11" name="Graphic 10" descr="Badge with solid fill">
            <a:extLst>
              <a:ext uri="{FF2B5EF4-FFF2-40B4-BE49-F238E27FC236}">
                <a16:creationId xmlns:a16="http://schemas.microsoft.com/office/drawing/2014/main" id="{B93EA9FC-E417-40CC-781C-C4F2F753D8A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60656" y="4908312"/>
            <a:ext cx="397933" cy="397933"/>
          </a:xfrm>
          <a:prstGeom prst="rect">
            <a:avLst/>
          </a:prstGeom>
        </p:spPr>
      </p:pic>
      <p:pic>
        <p:nvPicPr>
          <p:cNvPr id="13" name="Graphic 12" descr="Badge 3 with solid fill">
            <a:extLst>
              <a:ext uri="{FF2B5EF4-FFF2-40B4-BE49-F238E27FC236}">
                <a16:creationId xmlns:a16="http://schemas.microsoft.com/office/drawing/2014/main" id="{DC23EA85-0FDB-2D2C-4131-01489D98672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376282" y="4308447"/>
            <a:ext cx="397933" cy="397933"/>
          </a:xfrm>
          <a:prstGeom prst="rect">
            <a:avLst/>
          </a:prstGeom>
        </p:spPr>
      </p:pic>
      <p:sp>
        <p:nvSpPr>
          <p:cNvPr id="14" name="TextBox 13">
            <a:extLst>
              <a:ext uri="{FF2B5EF4-FFF2-40B4-BE49-F238E27FC236}">
                <a16:creationId xmlns:a16="http://schemas.microsoft.com/office/drawing/2014/main" id="{BB08318C-BAD8-8F88-55A0-49AD9B306A48}"/>
              </a:ext>
            </a:extLst>
          </p:cNvPr>
          <p:cNvSpPr txBox="1"/>
          <p:nvPr/>
        </p:nvSpPr>
        <p:spPr>
          <a:xfrm>
            <a:off x="8646582" y="790143"/>
            <a:ext cx="2810934" cy="5262979"/>
          </a:xfrm>
          <a:prstGeom prst="rect">
            <a:avLst/>
          </a:prstGeom>
          <a:noFill/>
        </p:spPr>
        <p:txBody>
          <a:bodyPr wrap="square" rtlCol="0">
            <a:spAutoFit/>
          </a:bodyPr>
          <a:lstStyle/>
          <a:p>
            <a:r>
              <a:rPr lang="en-CA" sz="1200" dirty="0"/>
              <a:t>All changes in climate are measured relative to the </a:t>
            </a:r>
            <a:r>
              <a:rPr lang="en-CA" sz="1200" b="1" dirty="0"/>
              <a:t>1961-1990 mean climate</a:t>
            </a:r>
            <a:r>
              <a:rPr lang="en-CA" sz="1200" dirty="0"/>
              <a:t>. </a:t>
            </a:r>
          </a:p>
          <a:p>
            <a:endParaRPr lang="en-CA" sz="1200" dirty="0"/>
          </a:p>
          <a:p>
            <a:r>
              <a:rPr lang="en-CA" sz="1200" dirty="0"/>
              <a:t>Small coloured dots are the </a:t>
            </a:r>
            <a:r>
              <a:rPr lang="en-CA" sz="1200" b="1" dirty="0"/>
              <a:t>20-year average change for one simulation </a:t>
            </a:r>
            <a:r>
              <a:rPr lang="en-CA" sz="1200" dirty="0"/>
              <a:t>of a global climate model (GCM) in the user-specified time period (2041-2060 in this case) for the SSP2-4.5 scenario.</a:t>
            </a:r>
          </a:p>
          <a:p>
            <a:endParaRPr lang="en-CA" sz="1200" dirty="0"/>
          </a:p>
          <a:p>
            <a:r>
              <a:rPr lang="en-CA" sz="1200" dirty="0"/>
              <a:t>Larger colored and labelled dots are the </a:t>
            </a:r>
            <a:r>
              <a:rPr lang="en-CA" sz="1200" b="1" dirty="0"/>
              <a:t>GCM’s mean change for the user-specified time period </a:t>
            </a:r>
            <a:r>
              <a:rPr lang="en-CA" sz="1200" dirty="0"/>
              <a:t>(i.e., the mean of the smaller dots of the same color). </a:t>
            </a:r>
          </a:p>
          <a:p>
            <a:endParaRPr lang="en-CA" sz="1200" dirty="0"/>
          </a:p>
          <a:p>
            <a:r>
              <a:rPr lang="en-CA" sz="1200" dirty="0"/>
              <a:t>Other points along the line are the </a:t>
            </a:r>
            <a:r>
              <a:rPr lang="en-CA" sz="1200" b="1" dirty="0"/>
              <a:t>GCM mean change for other time periods </a:t>
            </a:r>
            <a:r>
              <a:rPr lang="en-CA" sz="1200" dirty="0"/>
              <a:t>(i.e., 2061-2080). </a:t>
            </a:r>
          </a:p>
          <a:p>
            <a:endParaRPr lang="en-CA" sz="1200" dirty="0"/>
          </a:p>
          <a:p>
            <a:r>
              <a:rPr lang="en-CA" sz="1200" dirty="0"/>
              <a:t>The line connects the GCM mean changes for the five 20-year periods, indicating the </a:t>
            </a:r>
            <a:r>
              <a:rPr lang="en-CA" sz="1200" b="1" dirty="0"/>
              <a:t>trajectory of climate change</a:t>
            </a:r>
            <a:r>
              <a:rPr lang="en-CA" sz="1200" dirty="0"/>
              <a:t> projected by the GCM. </a:t>
            </a:r>
          </a:p>
          <a:p>
            <a:endParaRPr lang="en-CA" sz="1200" dirty="0"/>
          </a:p>
          <a:p>
            <a:r>
              <a:rPr lang="en-CA" sz="1200" dirty="0"/>
              <a:t>The ensemble mean (grey cross) is the average of the GCM mean change (larger colored dots). </a:t>
            </a:r>
          </a:p>
        </p:txBody>
      </p:sp>
      <p:pic>
        <p:nvPicPr>
          <p:cNvPr id="15" name="Graphic 14" descr="Badge 1 with solid fill">
            <a:extLst>
              <a:ext uri="{FF2B5EF4-FFF2-40B4-BE49-F238E27FC236}">
                <a16:creationId xmlns:a16="http://schemas.microsoft.com/office/drawing/2014/main" id="{8AC2872E-BF61-9CA4-3BE3-04864B2266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270875" y="763844"/>
            <a:ext cx="389467" cy="389467"/>
          </a:xfrm>
          <a:prstGeom prst="rect">
            <a:avLst/>
          </a:prstGeom>
        </p:spPr>
      </p:pic>
      <p:pic>
        <p:nvPicPr>
          <p:cNvPr id="16" name="Graphic 15" descr="Badge with solid fill">
            <a:extLst>
              <a:ext uri="{FF2B5EF4-FFF2-40B4-BE49-F238E27FC236}">
                <a16:creationId xmlns:a16="http://schemas.microsoft.com/office/drawing/2014/main" id="{FD6F27E2-DDA3-3AB6-18B4-765415CCD16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266642" y="1522643"/>
            <a:ext cx="397933" cy="397933"/>
          </a:xfrm>
          <a:prstGeom prst="rect">
            <a:avLst/>
          </a:prstGeom>
        </p:spPr>
      </p:pic>
      <p:pic>
        <p:nvPicPr>
          <p:cNvPr id="17" name="Graphic 16" descr="Badge 3 with solid fill">
            <a:extLst>
              <a:ext uri="{FF2B5EF4-FFF2-40B4-BE49-F238E27FC236}">
                <a16:creationId xmlns:a16="http://schemas.microsoft.com/office/drawing/2014/main" id="{0F41176F-9351-18CD-1138-C2A7DFA0DF8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243875" y="2592926"/>
            <a:ext cx="397933" cy="397933"/>
          </a:xfrm>
          <a:prstGeom prst="rect">
            <a:avLst/>
          </a:prstGeom>
        </p:spPr>
      </p:pic>
      <p:cxnSp>
        <p:nvCxnSpPr>
          <p:cNvPr id="2" name="Straight Arrow Connector 1">
            <a:extLst>
              <a:ext uri="{FF2B5EF4-FFF2-40B4-BE49-F238E27FC236}">
                <a16:creationId xmlns:a16="http://schemas.microsoft.com/office/drawing/2014/main" id="{4D693E13-09A1-F6D0-5389-539603560792}"/>
              </a:ext>
            </a:extLst>
          </p:cNvPr>
          <p:cNvCxnSpPr>
            <a:cxnSpLocks/>
          </p:cNvCxnSpPr>
          <p:nvPr/>
        </p:nvCxnSpPr>
        <p:spPr>
          <a:xfrm flipV="1">
            <a:off x="4133614" y="4855597"/>
            <a:ext cx="185803" cy="1944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 name="Straight Arrow Connector 3">
            <a:extLst>
              <a:ext uri="{FF2B5EF4-FFF2-40B4-BE49-F238E27FC236}">
                <a16:creationId xmlns:a16="http://schemas.microsoft.com/office/drawing/2014/main" id="{A7B617E9-C2F8-0210-3C7E-0A8A963F1F4F}"/>
              </a:ext>
            </a:extLst>
          </p:cNvPr>
          <p:cNvCxnSpPr>
            <a:cxnSpLocks/>
          </p:cNvCxnSpPr>
          <p:nvPr/>
        </p:nvCxnSpPr>
        <p:spPr>
          <a:xfrm flipV="1">
            <a:off x="3682194" y="4232221"/>
            <a:ext cx="185803" cy="1944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41B401D7-3120-763E-BBAC-7BDB37A70F25}"/>
              </a:ext>
            </a:extLst>
          </p:cNvPr>
          <p:cNvCxnSpPr>
            <a:cxnSpLocks/>
          </p:cNvCxnSpPr>
          <p:nvPr/>
        </p:nvCxnSpPr>
        <p:spPr>
          <a:xfrm flipH="1">
            <a:off x="4502372" y="3937895"/>
            <a:ext cx="209945" cy="20793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CCE0564D-D9D7-136D-D7E3-737F47543BDF}"/>
              </a:ext>
            </a:extLst>
          </p:cNvPr>
          <p:cNvCxnSpPr>
            <a:cxnSpLocks/>
          </p:cNvCxnSpPr>
          <p:nvPr/>
        </p:nvCxnSpPr>
        <p:spPr>
          <a:xfrm flipH="1">
            <a:off x="4915939" y="4328855"/>
            <a:ext cx="209945" cy="20793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18" name="Graphic 17" descr="Badge 4 with solid fill">
            <a:extLst>
              <a:ext uri="{FF2B5EF4-FFF2-40B4-BE49-F238E27FC236}">
                <a16:creationId xmlns:a16="http://schemas.microsoft.com/office/drawing/2014/main" id="{37872E19-815B-762C-5D21-5E33169FCF9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593528" y="3669493"/>
            <a:ext cx="369332" cy="369332"/>
          </a:xfrm>
          <a:prstGeom prst="rect">
            <a:avLst/>
          </a:prstGeom>
        </p:spPr>
      </p:pic>
      <p:pic>
        <p:nvPicPr>
          <p:cNvPr id="19" name="Graphic 18" descr="Badge 5 with solid fill">
            <a:extLst>
              <a:ext uri="{FF2B5EF4-FFF2-40B4-BE49-F238E27FC236}">
                <a16:creationId xmlns:a16="http://schemas.microsoft.com/office/drawing/2014/main" id="{B9770BC5-73CA-B58F-7D50-A4361EB19177}"/>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030850" y="4077167"/>
            <a:ext cx="369332" cy="369332"/>
          </a:xfrm>
          <a:prstGeom prst="rect">
            <a:avLst/>
          </a:prstGeom>
        </p:spPr>
      </p:pic>
      <p:cxnSp>
        <p:nvCxnSpPr>
          <p:cNvPr id="20" name="Straight Arrow Connector 19">
            <a:extLst>
              <a:ext uri="{FF2B5EF4-FFF2-40B4-BE49-F238E27FC236}">
                <a16:creationId xmlns:a16="http://schemas.microsoft.com/office/drawing/2014/main" id="{C517F06C-75CF-B101-A941-C7117D7DA972}"/>
              </a:ext>
            </a:extLst>
          </p:cNvPr>
          <p:cNvCxnSpPr>
            <a:cxnSpLocks/>
          </p:cNvCxnSpPr>
          <p:nvPr/>
        </p:nvCxnSpPr>
        <p:spPr>
          <a:xfrm>
            <a:off x="1222513" y="2590636"/>
            <a:ext cx="188844" cy="19232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26" name="Graphic 25" descr="Badge 4 with solid fill">
            <a:extLst>
              <a:ext uri="{FF2B5EF4-FFF2-40B4-BE49-F238E27FC236}">
                <a16:creationId xmlns:a16="http://schemas.microsoft.com/office/drawing/2014/main" id="{C156E1A3-AB1C-1213-FF94-984099BCEB3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245476" y="3540895"/>
            <a:ext cx="369332" cy="369332"/>
          </a:xfrm>
          <a:prstGeom prst="rect">
            <a:avLst/>
          </a:prstGeom>
        </p:spPr>
      </p:pic>
      <p:pic>
        <p:nvPicPr>
          <p:cNvPr id="27" name="Graphic 26" descr="Badge 5 with solid fill">
            <a:extLst>
              <a:ext uri="{FF2B5EF4-FFF2-40B4-BE49-F238E27FC236}">
                <a16:creationId xmlns:a16="http://schemas.microsoft.com/office/drawing/2014/main" id="{A5CB50B4-8912-095D-3ECD-60C3B97F14A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245476" y="4269314"/>
            <a:ext cx="369332" cy="369332"/>
          </a:xfrm>
          <a:prstGeom prst="rect">
            <a:avLst/>
          </a:prstGeom>
        </p:spPr>
      </p:pic>
      <p:pic>
        <p:nvPicPr>
          <p:cNvPr id="28" name="Graphic 27" descr="Badge 6 with solid fill">
            <a:extLst>
              <a:ext uri="{FF2B5EF4-FFF2-40B4-BE49-F238E27FC236}">
                <a16:creationId xmlns:a16="http://schemas.microsoft.com/office/drawing/2014/main" id="{FC0DD117-1EEA-B2CD-A1D4-2465435DC20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3394944" y="2360855"/>
            <a:ext cx="369332" cy="369332"/>
          </a:xfrm>
          <a:prstGeom prst="rect">
            <a:avLst/>
          </a:prstGeom>
        </p:spPr>
      </p:pic>
      <p:cxnSp>
        <p:nvCxnSpPr>
          <p:cNvPr id="29" name="Straight Arrow Connector 28">
            <a:extLst>
              <a:ext uri="{FF2B5EF4-FFF2-40B4-BE49-F238E27FC236}">
                <a16:creationId xmlns:a16="http://schemas.microsoft.com/office/drawing/2014/main" id="{4AF337A1-BC61-A246-A958-698F579C40E7}"/>
              </a:ext>
            </a:extLst>
          </p:cNvPr>
          <p:cNvCxnSpPr>
            <a:cxnSpLocks/>
          </p:cNvCxnSpPr>
          <p:nvPr/>
        </p:nvCxnSpPr>
        <p:spPr>
          <a:xfrm flipH="1">
            <a:off x="3019237" y="2590636"/>
            <a:ext cx="476002" cy="3639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31" name="Graphic 30" descr="Badge 6 with solid fill">
            <a:extLst>
              <a:ext uri="{FF2B5EF4-FFF2-40B4-BE49-F238E27FC236}">
                <a16:creationId xmlns:a16="http://schemas.microsoft.com/office/drawing/2014/main" id="{9B728A33-D03A-6C80-76CA-3922AF7B6AFE}"/>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266642" y="5150691"/>
            <a:ext cx="369332" cy="369332"/>
          </a:xfrm>
          <a:prstGeom prst="rect">
            <a:avLst/>
          </a:prstGeom>
        </p:spPr>
      </p:pic>
    </p:spTree>
    <p:extLst>
      <p:ext uri="{BB962C8B-B14F-4D97-AF65-F5344CB8AC3E}">
        <p14:creationId xmlns:p14="http://schemas.microsoft.com/office/powerpoint/2010/main" val="3902250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id="{8FAADD2F-16EA-E83D-94EA-92DCC05BD01C}"/>
              </a:ext>
            </a:extLst>
          </p:cNvPr>
          <p:cNvPicPr>
            <a:picLocks noChangeAspect="1"/>
          </p:cNvPicPr>
          <p:nvPr/>
        </p:nvPicPr>
        <p:blipFill>
          <a:blip r:embed="rId3"/>
          <a:stretch>
            <a:fillRect/>
          </a:stretch>
        </p:blipFill>
        <p:spPr>
          <a:xfrm>
            <a:off x="570536" y="629910"/>
            <a:ext cx="8146790" cy="5889246"/>
          </a:xfrm>
          <a:prstGeom prst="rect">
            <a:avLst/>
          </a:prstGeom>
        </p:spPr>
      </p:pic>
      <p:sp>
        <p:nvSpPr>
          <p:cNvPr id="5" name="TextBox 4">
            <a:extLst>
              <a:ext uri="{FF2B5EF4-FFF2-40B4-BE49-F238E27FC236}">
                <a16:creationId xmlns:a16="http://schemas.microsoft.com/office/drawing/2014/main" id="{F94A0C55-06F7-482C-1FB4-063F92127FDD}"/>
              </a:ext>
            </a:extLst>
          </p:cNvPr>
          <p:cNvSpPr txBox="1"/>
          <p:nvPr/>
        </p:nvSpPr>
        <p:spPr>
          <a:xfrm>
            <a:off x="897942" y="166952"/>
            <a:ext cx="7112000" cy="369332"/>
          </a:xfrm>
          <a:prstGeom prst="rect">
            <a:avLst/>
          </a:prstGeom>
          <a:noFill/>
        </p:spPr>
        <p:txBody>
          <a:bodyPr wrap="square" rtlCol="0">
            <a:spAutoFit/>
          </a:bodyPr>
          <a:lstStyle/>
          <a:p>
            <a:pPr algn="ctr"/>
            <a:r>
              <a:rPr lang="en-CA" dirty="0"/>
              <a:t>Bulkley-Morice FLP Area; 1961-1990</a:t>
            </a:r>
          </a:p>
        </p:txBody>
      </p:sp>
      <p:pic>
        <p:nvPicPr>
          <p:cNvPr id="7" name="Graphic 6" descr="Badge 1 with solid fill">
            <a:extLst>
              <a:ext uri="{FF2B5EF4-FFF2-40B4-BE49-F238E27FC236}">
                <a16:creationId xmlns:a16="http://schemas.microsoft.com/office/drawing/2014/main" id="{3509548E-422B-25E6-43C1-AFBA73955E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68332" y="491723"/>
            <a:ext cx="369331" cy="369331"/>
          </a:xfrm>
          <a:prstGeom prst="rect">
            <a:avLst/>
          </a:prstGeom>
        </p:spPr>
      </p:pic>
      <p:pic>
        <p:nvPicPr>
          <p:cNvPr id="9" name="Graphic 8" descr="Badge with solid fill">
            <a:extLst>
              <a:ext uri="{FF2B5EF4-FFF2-40B4-BE49-F238E27FC236}">
                <a16:creationId xmlns:a16="http://schemas.microsoft.com/office/drawing/2014/main" id="{A04526A4-00C0-70D6-764B-CED6D68CF78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8889" y="2792561"/>
            <a:ext cx="372533" cy="372533"/>
          </a:xfrm>
          <a:prstGeom prst="rect">
            <a:avLst/>
          </a:prstGeom>
        </p:spPr>
      </p:pic>
      <p:pic>
        <p:nvPicPr>
          <p:cNvPr id="11" name="Graphic 10" descr="Badge 3 with solid fill">
            <a:extLst>
              <a:ext uri="{FF2B5EF4-FFF2-40B4-BE49-F238E27FC236}">
                <a16:creationId xmlns:a16="http://schemas.microsoft.com/office/drawing/2014/main" id="{391E2B59-C960-07CB-94B6-EDEA98EAF16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531060" y="2770199"/>
            <a:ext cx="372533" cy="372533"/>
          </a:xfrm>
          <a:prstGeom prst="rect">
            <a:avLst/>
          </a:prstGeom>
        </p:spPr>
      </p:pic>
      <p:pic>
        <p:nvPicPr>
          <p:cNvPr id="13" name="Graphic 12" descr="Badge 4 with solid fill">
            <a:extLst>
              <a:ext uri="{FF2B5EF4-FFF2-40B4-BE49-F238E27FC236}">
                <a16:creationId xmlns:a16="http://schemas.microsoft.com/office/drawing/2014/main" id="{A0825C4B-BC48-6BE9-ADB9-B60DF0D28E6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084610" y="6334490"/>
            <a:ext cx="369332" cy="369332"/>
          </a:xfrm>
          <a:prstGeom prst="rect">
            <a:avLst/>
          </a:prstGeom>
        </p:spPr>
      </p:pic>
      <p:pic>
        <p:nvPicPr>
          <p:cNvPr id="15" name="Graphic 14" descr="Badge 5 with solid fill">
            <a:extLst>
              <a:ext uri="{FF2B5EF4-FFF2-40B4-BE49-F238E27FC236}">
                <a16:creationId xmlns:a16="http://schemas.microsoft.com/office/drawing/2014/main" id="{1DB0F390-C8B7-7979-31C1-6A3F230F1D3F}"/>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008700" y="5051861"/>
            <a:ext cx="369332" cy="369332"/>
          </a:xfrm>
          <a:prstGeom prst="rect">
            <a:avLst/>
          </a:prstGeom>
        </p:spPr>
      </p:pic>
      <p:pic>
        <p:nvPicPr>
          <p:cNvPr id="17" name="Graphic 16" descr="Badge 6 with solid fill">
            <a:extLst>
              <a:ext uri="{FF2B5EF4-FFF2-40B4-BE49-F238E27FC236}">
                <a16:creationId xmlns:a16="http://schemas.microsoft.com/office/drawing/2014/main" id="{8E410527-90D2-C9CA-61B4-57F498BA0AA4}"/>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783665" y="3906900"/>
            <a:ext cx="369332" cy="369332"/>
          </a:xfrm>
          <a:prstGeom prst="rect">
            <a:avLst/>
          </a:prstGeom>
        </p:spPr>
      </p:pic>
      <p:pic>
        <p:nvPicPr>
          <p:cNvPr id="19" name="Graphic 18" descr="Badge 7 with solid fill">
            <a:extLst>
              <a:ext uri="{FF2B5EF4-FFF2-40B4-BE49-F238E27FC236}">
                <a16:creationId xmlns:a16="http://schemas.microsoft.com/office/drawing/2014/main" id="{23691C00-F0AB-834B-CE58-38EA20CDF18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49831" y="2747259"/>
            <a:ext cx="369332" cy="369332"/>
          </a:xfrm>
          <a:prstGeom prst="rect">
            <a:avLst/>
          </a:prstGeom>
        </p:spPr>
      </p:pic>
      <p:pic>
        <p:nvPicPr>
          <p:cNvPr id="21" name="Graphic 20" descr="Badge 8 with solid fill">
            <a:extLst>
              <a:ext uri="{FF2B5EF4-FFF2-40B4-BE49-F238E27FC236}">
                <a16:creationId xmlns:a16="http://schemas.microsoft.com/office/drawing/2014/main" id="{A10926D3-7C49-918B-0601-27C46B18F0E7}"/>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084610" y="4582579"/>
            <a:ext cx="369332" cy="369332"/>
          </a:xfrm>
          <a:prstGeom prst="rect">
            <a:avLst/>
          </a:prstGeom>
        </p:spPr>
      </p:pic>
      <p:sp>
        <p:nvSpPr>
          <p:cNvPr id="23" name="TextBox 22">
            <a:extLst>
              <a:ext uri="{FF2B5EF4-FFF2-40B4-BE49-F238E27FC236}">
                <a16:creationId xmlns:a16="http://schemas.microsoft.com/office/drawing/2014/main" id="{DAF6B661-C720-43B6-ABA1-35601070BBCB}"/>
              </a:ext>
            </a:extLst>
          </p:cNvPr>
          <p:cNvSpPr txBox="1"/>
          <p:nvPr/>
        </p:nvSpPr>
        <p:spPr>
          <a:xfrm>
            <a:off x="9702800" y="1536174"/>
            <a:ext cx="2489200" cy="4154984"/>
          </a:xfrm>
          <a:prstGeom prst="rect">
            <a:avLst/>
          </a:prstGeom>
          <a:noFill/>
        </p:spPr>
        <p:txBody>
          <a:bodyPr wrap="square" rtlCol="0">
            <a:spAutoFit/>
          </a:bodyPr>
          <a:lstStyle/>
          <a:p>
            <a:r>
              <a:rPr lang="en-CA" sz="1200" dirty="0"/>
              <a:t>Average annual temperature &amp; precipitation</a:t>
            </a:r>
          </a:p>
          <a:p>
            <a:endParaRPr lang="en-CA" sz="1200" dirty="0"/>
          </a:p>
          <a:p>
            <a:r>
              <a:rPr lang="en-CA" sz="1200" dirty="0"/>
              <a:t>Temperature axis</a:t>
            </a:r>
          </a:p>
          <a:p>
            <a:pPr marL="171450" indent="-171450">
              <a:buFontTx/>
              <a:buChar char="-"/>
            </a:pPr>
            <a:endParaRPr lang="en-CA" sz="1200" dirty="0"/>
          </a:p>
          <a:p>
            <a:r>
              <a:rPr lang="en-CA" sz="1200" dirty="0"/>
              <a:t>Precipitation axis</a:t>
            </a:r>
          </a:p>
          <a:p>
            <a:pPr marL="171450" indent="-171450">
              <a:buFontTx/>
              <a:buChar char="-"/>
            </a:pPr>
            <a:endParaRPr lang="en-CA" sz="1200" dirty="0"/>
          </a:p>
          <a:p>
            <a:r>
              <a:rPr lang="en-CA" sz="1200" dirty="0"/>
              <a:t>Months of the year</a:t>
            </a:r>
          </a:p>
          <a:p>
            <a:pPr marL="171450" indent="-171450">
              <a:buFontTx/>
              <a:buChar char="-"/>
            </a:pPr>
            <a:endParaRPr lang="en-CA" sz="1200" dirty="0"/>
          </a:p>
          <a:p>
            <a:r>
              <a:rPr lang="en-CA" sz="1200" dirty="0"/>
              <a:t>Months with likely frost (</a:t>
            </a:r>
            <a:r>
              <a:rPr lang="en-CA" sz="1200" b="1" dirty="0">
                <a:solidFill>
                  <a:srgbClr val="4C4CFF"/>
                </a:solidFill>
              </a:rPr>
              <a:t>blue </a:t>
            </a:r>
            <a:r>
              <a:rPr lang="en-CA" sz="1200" dirty="0"/>
              <a:t>bars)</a:t>
            </a:r>
          </a:p>
          <a:p>
            <a:pPr marL="171450" indent="-171450">
              <a:buFontTx/>
              <a:buChar char="-"/>
            </a:pPr>
            <a:endParaRPr lang="en-CA" sz="1200" dirty="0"/>
          </a:p>
          <a:p>
            <a:r>
              <a:rPr lang="en-CA" sz="1200" dirty="0"/>
              <a:t>Average monthly </a:t>
            </a:r>
            <a:r>
              <a:rPr lang="en-CA" sz="1200" b="1" dirty="0">
                <a:solidFill>
                  <a:srgbClr val="D90A27"/>
                </a:solidFill>
              </a:rPr>
              <a:t>temperature curve</a:t>
            </a:r>
            <a:endParaRPr lang="en-CA" sz="1200" dirty="0"/>
          </a:p>
          <a:p>
            <a:pPr marL="171450" indent="-171450">
              <a:buFontTx/>
              <a:buChar char="-"/>
            </a:pPr>
            <a:endParaRPr lang="en-CA" sz="1200" dirty="0"/>
          </a:p>
          <a:p>
            <a:r>
              <a:rPr lang="en-CA" sz="1200" dirty="0"/>
              <a:t>Average monthly </a:t>
            </a:r>
            <a:r>
              <a:rPr lang="en-CA" sz="1200" b="1" dirty="0">
                <a:solidFill>
                  <a:srgbClr val="6B6BFF"/>
                </a:solidFill>
              </a:rPr>
              <a:t>precipitation curve</a:t>
            </a:r>
            <a:endParaRPr lang="en-CA" sz="1200" dirty="0"/>
          </a:p>
          <a:p>
            <a:pPr marL="171450" indent="-171450">
              <a:buFontTx/>
              <a:buChar char="-"/>
            </a:pPr>
            <a:endParaRPr lang="en-CA" sz="1200" dirty="0"/>
          </a:p>
          <a:p>
            <a:r>
              <a:rPr lang="en-CA" sz="1200" dirty="0"/>
              <a:t>Diurnal range (difference between the highest and lowest temperature recorded in a 24-hr period – </a:t>
            </a:r>
            <a:r>
              <a:rPr lang="en-CA" sz="1200" b="1" dirty="0">
                <a:solidFill>
                  <a:srgbClr val="F50C0A"/>
                </a:solidFill>
              </a:rPr>
              <a:t>red</a:t>
            </a:r>
            <a:r>
              <a:rPr lang="en-CA" sz="1200" b="1" dirty="0">
                <a:solidFill>
                  <a:srgbClr val="CC99CC"/>
                </a:solidFill>
              </a:rPr>
              <a:t> </a:t>
            </a:r>
            <a:r>
              <a:rPr lang="en-CA" sz="1200" dirty="0"/>
              <a:t>shading)</a:t>
            </a:r>
          </a:p>
          <a:p>
            <a:pPr marL="171450" indent="-171450">
              <a:buFontTx/>
              <a:buChar char="-"/>
            </a:pPr>
            <a:endParaRPr lang="en-CA" sz="1200" dirty="0"/>
          </a:p>
        </p:txBody>
      </p:sp>
      <p:pic>
        <p:nvPicPr>
          <p:cNvPr id="24" name="Graphic 23" descr="Badge 1 with solid fill">
            <a:extLst>
              <a:ext uri="{FF2B5EF4-FFF2-40B4-BE49-F238E27FC236}">
                <a16:creationId xmlns:a16="http://schemas.microsoft.com/office/drawing/2014/main" id="{24915721-5BAB-8573-7861-36D9897E390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31868" y="1573703"/>
            <a:ext cx="369331" cy="369331"/>
          </a:xfrm>
          <a:prstGeom prst="rect">
            <a:avLst/>
          </a:prstGeom>
        </p:spPr>
      </p:pic>
      <p:pic>
        <p:nvPicPr>
          <p:cNvPr id="25" name="Graphic 24" descr="Badge with solid fill">
            <a:extLst>
              <a:ext uri="{FF2B5EF4-FFF2-40B4-BE49-F238E27FC236}">
                <a16:creationId xmlns:a16="http://schemas.microsoft.com/office/drawing/2014/main" id="{26C3913D-5AE1-E9BB-605E-14AA583FB97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331068" y="2055945"/>
            <a:ext cx="372533" cy="372533"/>
          </a:xfrm>
          <a:prstGeom prst="rect">
            <a:avLst/>
          </a:prstGeom>
        </p:spPr>
      </p:pic>
      <p:pic>
        <p:nvPicPr>
          <p:cNvPr id="26" name="Graphic 25" descr="Badge 3 with solid fill">
            <a:extLst>
              <a:ext uri="{FF2B5EF4-FFF2-40B4-BE49-F238E27FC236}">
                <a16:creationId xmlns:a16="http://schemas.microsoft.com/office/drawing/2014/main" id="{CC3D4EAB-BC40-70FF-F007-6638CDC17D0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331868" y="2397666"/>
            <a:ext cx="372533" cy="372533"/>
          </a:xfrm>
          <a:prstGeom prst="rect">
            <a:avLst/>
          </a:prstGeom>
        </p:spPr>
      </p:pic>
      <p:pic>
        <p:nvPicPr>
          <p:cNvPr id="27" name="Graphic 26" descr="Badge 4 with solid fill">
            <a:extLst>
              <a:ext uri="{FF2B5EF4-FFF2-40B4-BE49-F238E27FC236}">
                <a16:creationId xmlns:a16="http://schemas.microsoft.com/office/drawing/2014/main" id="{139859C7-6A8E-77D6-F688-0C626E88AB5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331867" y="2763776"/>
            <a:ext cx="369332" cy="369332"/>
          </a:xfrm>
          <a:prstGeom prst="rect">
            <a:avLst/>
          </a:prstGeom>
        </p:spPr>
      </p:pic>
      <p:pic>
        <p:nvPicPr>
          <p:cNvPr id="28" name="Graphic 27" descr="Badge 5 with solid fill">
            <a:extLst>
              <a:ext uri="{FF2B5EF4-FFF2-40B4-BE49-F238E27FC236}">
                <a16:creationId xmlns:a16="http://schemas.microsoft.com/office/drawing/2014/main" id="{24D72110-4BCC-38EB-7CC7-DBF097B7C69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331867" y="3142732"/>
            <a:ext cx="369332" cy="369332"/>
          </a:xfrm>
          <a:prstGeom prst="rect">
            <a:avLst/>
          </a:prstGeom>
        </p:spPr>
      </p:pic>
      <p:pic>
        <p:nvPicPr>
          <p:cNvPr id="29" name="Graphic 28" descr="Badge 6 with solid fill">
            <a:extLst>
              <a:ext uri="{FF2B5EF4-FFF2-40B4-BE49-F238E27FC236}">
                <a16:creationId xmlns:a16="http://schemas.microsoft.com/office/drawing/2014/main" id="{620E6135-9A1E-3E03-5825-960329A17583}"/>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9331867" y="3574533"/>
            <a:ext cx="369332" cy="369332"/>
          </a:xfrm>
          <a:prstGeom prst="rect">
            <a:avLst/>
          </a:prstGeom>
        </p:spPr>
      </p:pic>
      <p:pic>
        <p:nvPicPr>
          <p:cNvPr id="30" name="Graphic 29" descr="Badge 7 with solid fill">
            <a:extLst>
              <a:ext uri="{FF2B5EF4-FFF2-40B4-BE49-F238E27FC236}">
                <a16:creationId xmlns:a16="http://schemas.microsoft.com/office/drawing/2014/main" id="{8C560B86-CA7E-C473-FFE6-5A07DE37D55B}"/>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9331867" y="4128531"/>
            <a:ext cx="369332" cy="369332"/>
          </a:xfrm>
          <a:prstGeom prst="rect">
            <a:avLst/>
          </a:prstGeom>
        </p:spPr>
      </p:pic>
      <p:pic>
        <p:nvPicPr>
          <p:cNvPr id="31" name="Graphic 30" descr="Badge 8 with solid fill">
            <a:extLst>
              <a:ext uri="{FF2B5EF4-FFF2-40B4-BE49-F238E27FC236}">
                <a16:creationId xmlns:a16="http://schemas.microsoft.com/office/drawing/2014/main" id="{5456A08E-CECA-3AE8-5736-3BA3E6EA34DE}"/>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9331867" y="4682529"/>
            <a:ext cx="369332" cy="369332"/>
          </a:xfrm>
          <a:prstGeom prst="rect">
            <a:avLst/>
          </a:prstGeom>
        </p:spPr>
      </p:pic>
    </p:spTree>
    <p:extLst>
      <p:ext uri="{BB962C8B-B14F-4D97-AF65-F5344CB8AC3E}">
        <p14:creationId xmlns:p14="http://schemas.microsoft.com/office/powerpoint/2010/main" val="15870473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F887FDF7-132F-F46A-4A71-81B7170DDC88}"/>
              </a:ext>
            </a:extLst>
          </p:cNvPr>
          <p:cNvPicPr>
            <a:picLocks noChangeAspect="1"/>
          </p:cNvPicPr>
          <p:nvPr/>
        </p:nvPicPr>
        <p:blipFill>
          <a:blip r:embed="rId3"/>
          <a:stretch>
            <a:fillRect/>
          </a:stretch>
        </p:blipFill>
        <p:spPr>
          <a:xfrm>
            <a:off x="1920876" y="484283"/>
            <a:ext cx="8147050" cy="5889434"/>
          </a:xfrm>
          <a:prstGeom prst="rect">
            <a:avLst/>
          </a:prstGeom>
        </p:spPr>
      </p:pic>
      <p:sp>
        <p:nvSpPr>
          <p:cNvPr id="10" name="TextBox 9">
            <a:extLst>
              <a:ext uri="{FF2B5EF4-FFF2-40B4-BE49-F238E27FC236}">
                <a16:creationId xmlns:a16="http://schemas.microsoft.com/office/drawing/2014/main" id="{E413378D-5745-FAC3-81DB-2963F5E92311}"/>
              </a:ext>
            </a:extLst>
          </p:cNvPr>
          <p:cNvSpPr txBox="1"/>
          <p:nvPr/>
        </p:nvSpPr>
        <p:spPr>
          <a:xfrm>
            <a:off x="2438401" y="115124"/>
            <a:ext cx="7112000" cy="369332"/>
          </a:xfrm>
          <a:prstGeom prst="rect">
            <a:avLst/>
          </a:prstGeom>
          <a:noFill/>
        </p:spPr>
        <p:txBody>
          <a:bodyPr wrap="square" rtlCol="0">
            <a:spAutoFit/>
          </a:bodyPr>
          <a:lstStyle/>
          <a:p>
            <a:pPr algn="ctr"/>
            <a:r>
              <a:rPr lang="en-CA" dirty="0"/>
              <a:t>Coast Range Ecoregion; 1961-1990</a:t>
            </a:r>
          </a:p>
        </p:txBody>
      </p:sp>
      <p:sp>
        <p:nvSpPr>
          <p:cNvPr id="22" name="TextBox 21">
            <a:extLst>
              <a:ext uri="{FF2B5EF4-FFF2-40B4-BE49-F238E27FC236}">
                <a16:creationId xmlns:a16="http://schemas.microsoft.com/office/drawing/2014/main" id="{A33317E0-5B7D-7305-8589-6BFFA5F331A0}"/>
              </a:ext>
            </a:extLst>
          </p:cNvPr>
          <p:cNvSpPr txBox="1"/>
          <p:nvPr/>
        </p:nvSpPr>
        <p:spPr>
          <a:xfrm>
            <a:off x="186267" y="2294467"/>
            <a:ext cx="1836208" cy="923330"/>
          </a:xfrm>
          <a:prstGeom prst="rect">
            <a:avLst/>
          </a:prstGeom>
          <a:noFill/>
        </p:spPr>
        <p:txBody>
          <a:bodyPr wrap="square" rtlCol="0">
            <a:spAutoFit/>
          </a:bodyPr>
          <a:lstStyle/>
          <a:p>
            <a:r>
              <a:rPr lang="en-CA" b="1" u="sng" dirty="0"/>
              <a:t>Humid period:</a:t>
            </a:r>
          </a:p>
          <a:p>
            <a:r>
              <a:rPr lang="en-CA" sz="1200" dirty="0"/>
              <a:t>When the </a:t>
            </a:r>
            <a:r>
              <a:rPr lang="en-CA" sz="1200" b="1" dirty="0">
                <a:solidFill>
                  <a:srgbClr val="6B6BFF"/>
                </a:solidFill>
              </a:rPr>
              <a:t>blue line </a:t>
            </a:r>
            <a:r>
              <a:rPr lang="en-CA" sz="1200" dirty="0"/>
              <a:t>is above the </a:t>
            </a:r>
            <a:r>
              <a:rPr lang="en-CA" sz="1200" b="1" dirty="0">
                <a:solidFill>
                  <a:srgbClr val="D90A27"/>
                </a:solidFill>
              </a:rPr>
              <a:t>red line</a:t>
            </a:r>
            <a:r>
              <a:rPr lang="en-CA" sz="1200" dirty="0"/>
              <a:t>, conditions are </a:t>
            </a:r>
            <a:r>
              <a:rPr lang="en-CA" sz="1200" b="1" dirty="0"/>
              <a:t>humid</a:t>
            </a:r>
            <a:endParaRPr lang="en-CA" sz="1200" dirty="0"/>
          </a:p>
        </p:txBody>
      </p:sp>
      <p:sp>
        <p:nvSpPr>
          <p:cNvPr id="25" name="TextBox 24">
            <a:extLst>
              <a:ext uri="{FF2B5EF4-FFF2-40B4-BE49-F238E27FC236}">
                <a16:creationId xmlns:a16="http://schemas.microsoft.com/office/drawing/2014/main" id="{CD90AD9E-80F8-314E-7D18-74EF8B65B313}"/>
              </a:ext>
            </a:extLst>
          </p:cNvPr>
          <p:cNvSpPr txBox="1"/>
          <p:nvPr/>
        </p:nvSpPr>
        <p:spPr>
          <a:xfrm>
            <a:off x="10168469" y="1064654"/>
            <a:ext cx="1649941" cy="923330"/>
          </a:xfrm>
          <a:prstGeom prst="rect">
            <a:avLst/>
          </a:prstGeom>
          <a:noFill/>
        </p:spPr>
        <p:txBody>
          <a:bodyPr wrap="square" rtlCol="0">
            <a:spAutoFit/>
          </a:bodyPr>
          <a:lstStyle/>
          <a:p>
            <a:r>
              <a:rPr lang="en-CA" b="1" u="sng" dirty="0"/>
              <a:t>Wet period:</a:t>
            </a:r>
          </a:p>
          <a:p>
            <a:r>
              <a:rPr lang="en-CA" sz="1200" dirty="0"/>
              <a:t>When the </a:t>
            </a:r>
            <a:r>
              <a:rPr lang="en-CA" sz="1200" b="1" dirty="0">
                <a:solidFill>
                  <a:srgbClr val="6B6BFF"/>
                </a:solidFill>
              </a:rPr>
              <a:t>blue line </a:t>
            </a:r>
            <a:r>
              <a:rPr lang="en-CA" sz="1200" dirty="0"/>
              <a:t>is above 100m, conditions are </a:t>
            </a:r>
            <a:r>
              <a:rPr lang="en-CA" sz="1200" b="1" dirty="0"/>
              <a:t>wet</a:t>
            </a:r>
            <a:endParaRPr lang="en-CA" sz="1200" dirty="0"/>
          </a:p>
        </p:txBody>
      </p:sp>
      <p:sp>
        <p:nvSpPr>
          <p:cNvPr id="29" name="TextBox 28">
            <a:extLst>
              <a:ext uri="{FF2B5EF4-FFF2-40B4-BE49-F238E27FC236}">
                <a16:creationId xmlns:a16="http://schemas.microsoft.com/office/drawing/2014/main" id="{48BB82EF-AD62-8820-C445-C5B638CFCC7B}"/>
              </a:ext>
            </a:extLst>
          </p:cNvPr>
          <p:cNvSpPr txBox="1"/>
          <p:nvPr/>
        </p:nvSpPr>
        <p:spPr>
          <a:xfrm>
            <a:off x="5918201" y="2852802"/>
            <a:ext cx="1523999" cy="923330"/>
          </a:xfrm>
          <a:prstGeom prst="rect">
            <a:avLst/>
          </a:prstGeom>
          <a:noFill/>
        </p:spPr>
        <p:txBody>
          <a:bodyPr wrap="square" rtlCol="0">
            <a:spAutoFit/>
          </a:bodyPr>
          <a:lstStyle/>
          <a:p>
            <a:r>
              <a:rPr lang="en-CA" b="1" u="sng" dirty="0"/>
              <a:t>Dry period:</a:t>
            </a:r>
          </a:p>
          <a:p>
            <a:r>
              <a:rPr lang="en-CA" sz="1200" dirty="0"/>
              <a:t>When the </a:t>
            </a:r>
            <a:r>
              <a:rPr lang="en-CA" sz="1200" b="1" dirty="0">
                <a:solidFill>
                  <a:srgbClr val="D90A27"/>
                </a:solidFill>
              </a:rPr>
              <a:t>red line </a:t>
            </a:r>
            <a:r>
              <a:rPr lang="en-CA" sz="1200" dirty="0"/>
              <a:t>is above the </a:t>
            </a:r>
            <a:r>
              <a:rPr lang="en-CA" sz="1200" b="1" dirty="0">
                <a:solidFill>
                  <a:srgbClr val="6B6BFF"/>
                </a:solidFill>
              </a:rPr>
              <a:t>blue line</a:t>
            </a:r>
            <a:r>
              <a:rPr lang="en-CA" sz="1200" dirty="0"/>
              <a:t>, conditions are </a:t>
            </a:r>
            <a:r>
              <a:rPr lang="en-CA" sz="1200" b="1" dirty="0"/>
              <a:t>dry</a:t>
            </a:r>
            <a:endParaRPr lang="en-CA" sz="1200" dirty="0"/>
          </a:p>
        </p:txBody>
      </p:sp>
      <p:cxnSp>
        <p:nvCxnSpPr>
          <p:cNvPr id="3" name="Straight Arrow Connector 2">
            <a:extLst>
              <a:ext uri="{FF2B5EF4-FFF2-40B4-BE49-F238E27FC236}">
                <a16:creationId xmlns:a16="http://schemas.microsoft.com/office/drawing/2014/main" id="{76A3993D-EB61-D6D5-8A03-8A5C788C956E}"/>
              </a:ext>
            </a:extLst>
          </p:cNvPr>
          <p:cNvCxnSpPr/>
          <p:nvPr/>
        </p:nvCxnSpPr>
        <p:spPr>
          <a:xfrm>
            <a:off x="1920876" y="2494722"/>
            <a:ext cx="3187837" cy="0"/>
          </a:xfrm>
          <a:prstGeom prst="straightConnector1">
            <a:avLst/>
          </a:prstGeom>
          <a:ln w="4445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 name="Straight Arrow Connector 3">
            <a:extLst>
              <a:ext uri="{FF2B5EF4-FFF2-40B4-BE49-F238E27FC236}">
                <a16:creationId xmlns:a16="http://schemas.microsoft.com/office/drawing/2014/main" id="{7F000A5F-1899-DC22-51D7-814BC2FD660D}"/>
              </a:ext>
            </a:extLst>
          </p:cNvPr>
          <p:cNvCxnSpPr>
            <a:cxnSpLocks/>
          </p:cNvCxnSpPr>
          <p:nvPr/>
        </p:nvCxnSpPr>
        <p:spPr>
          <a:xfrm>
            <a:off x="6579704" y="3776132"/>
            <a:ext cx="0" cy="865442"/>
          </a:xfrm>
          <a:prstGeom prst="straightConnector1">
            <a:avLst/>
          </a:prstGeom>
          <a:ln w="4445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 name="Straight Arrow Connector 4">
            <a:extLst>
              <a:ext uri="{FF2B5EF4-FFF2-40B4-BE49-F238E27FC236}">
                <a16:creationId xmlns:a16="http://schemas.microsoft.com/office/drawing/2014/main" id="{D53686F5-6B47-6419-AA4E-2616CDB52782}"/>
              </a:ext>
            </a:extLst>
          </p:cNvPr>
          <p:cNvCxnSpPr>
            <a:cxnSpLocks/>
          </p:cNvCxnSpPr>
          <p:nvPr/>
        </p:nvCxnSpPr>
        <p:spPr>
          <a:xfrm flipH="1">
            <a:off x="9203635" y="1338470"/>
            <a:ext cx="964834" cy="0"/>
          </a:xfrm>
          <a:prstGeom prst="straightConnector1">
            <a:avLst/>
          </a:prstGeom>
          <a:ln w="4445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579305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1418</TotalTime>
  <Words>826</Words>
  <Application>Microsoft Office PowerPoint</Application>
  <PresentationFormat>Widescreen</PresentationFormat>
  <Paragraphs>83</Paragraphs>
  <Slides>4</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Grice, Tirion FOR:EX</dc:creator>
  <cp:lastModifiedBy>Grice, Tirion FOR:EX</cp:lastModifiedBy>
  <cp:revision>14</cp:revision>
  <dcterms:created xsi:type="dcterms:W3CDTF">2025-07-14T18:06:22Z</dcterms:created>
  <dcterms:modified xsi:type="dcterms:W3CDTF">2025-07-15T18:28:26Z</dcterms:modified>
</cp:coreProperties>
</file>