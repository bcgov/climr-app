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0C0A"/>
    <a:srgbClr val="DC954F"/>
    <a:srgbClr val="F7E6D5"/>
    <a:srgbClr val="6FAF8B"/>
    <a:srgbClr val="5681AD"/>
    <a:srgbClr val="ABC1D6"/>
    <a:srgbClr val="0000FF"/>
    <a:srgbClr val="DBDBDB"/>
    <a:srgbClr val="6B6BFF"/>
    <a:srgbClr val="D90A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AC242-72DC-43F1-B8D1-38D35556D062}" v="12" dt="2025-07-14T22:54:27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86B01-FD28-405F-B00F-6A73E9402EB4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51559-7ED9-4495-A3C0-DDB2E9268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579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Mention in the modal box that we can see from this plot that some models show an increase in PPT whereas others show a decrease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51559-7ED9-4495-A3C0-DDB2E926809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8588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51559-7ED9-4495-A3C0-DDB2E926809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469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Interpreting the diagram: Temperature trends are displayed as the red line and precipitation trends are displayed as the blue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51559-7ED9-4495-A3C0-DDB2E926809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249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050C-C31A-921D-856A-A2FD1C09B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FCE7-3CB9-480D-6D4C-5C4EEDE54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E9B07-F0E1-2177-C835-1BB46E38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F4B4-0715-0048-F25B-D492C4CF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CBCAF-5705-84D2-959A-94B81D26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127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E3B6-3668-3E44-2572-81DDD0A1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7267-955C-4666-BBCE-1ADFE8306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21F46-D82F-AC4D-BD00-7B591C49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4C300-2932-5A05-0D34-8F6A6D2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871C-6C19-0363-9FB9-97A85D3D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45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5809-95D5-4872-CBE8-D683F34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099E-94ED-FB3F-E063-80D88C6A8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91FD8-BD31-04F1-E8D7-1816B74A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2078A-C64C-1A47-48E0-DE61BF0D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77884-C43C-18D4-303F-C2C1CDED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460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FE32-BCCC-4E24-97B1-0519337B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B7DC3-8FB1-5FF3-EDFF-C25C5E33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FD5A5-0CD3-17B7-D883-C6A1B1A42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A7089-8014-359D-5748-DCAE7505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143E3-B45A-7849-63C4-F25FFE0DA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95C67-FC53-725F-3D2F-6405CE05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97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8C00-5528-A56F-9FFC-71DA66D22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3F65-8985-5F43-8AF2-C01C6ADBE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16524-6C50-A404-95D0-14015B9A6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0BAD97-4821-0E89-41CD-4B2B99413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FDC59-3572-6BBC-DBB4-6C3769F97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8F330-DD7C-0050-D48D-CD3802E3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2E5F3-F565-C6F7-816E-47C702E0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582EB-E961-D976-B934-EFA17FF9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361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0BBD-B15A-DC0D-29A2-42D03304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DB054-AE2E-5C35-9B21-6E9EDBC2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808EF-AFE9-58A6-122B-F4938CA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E2EF7-E2D9-79C7-8F72-D9BBD32A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172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873AD-5A6E-6051-BDB8-1CEF716E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B7006-F183-F1A8-870A-E7E358758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3BBC9-9ABF-B75E-E201-0E127936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26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C85A-948A-1D12-6745-D8B2D18B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9F251-1E24-F326-4558-4F6B4AD4F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5AAC8-77F5-7139-1DB0-E37206FA7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A8B8F-265E-0A56-455B-F25D951B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F1633-0E32-E819-4C49-9F04D4C8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C35B2-D068-AB8F-BA3F-38A6A67E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65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D853-7F62-0DA7-B88D-63390682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66BA7-7D1B-C4E3-ED88-741A38CBB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CF002-FC3D-E8BA-7F31-7A70A1B62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9B574-7B7A-EF14-6235-7E5E6348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F3296-2361-1016-184B-06ED9F293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5AD2C-439E-5B34-7CF0-4BF4D650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274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3A3F-7DF0-2B68-32FD-63245F2E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EC17D-05C3-94A7-1DAF-A2C70F97A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DD740-7266-3F09-3F13-61BA9604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B86A-8335-41FF-4AA2-0810DDE3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4A6D-0141-4C7B-A4E4-88B5BC82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4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D4D18-0118-F1F8-4378-D6811AC9F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2DB31-E2B5-14E2-8CAF-2CF0ED066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A14AE-43AA-204A-5BFD-4781B359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6EDC3-534F-4A20-4B95-1514B826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82C68-322E-C7BF-12FE-F313C83A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77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99F9C-D597-1288-AFD0-DA07322B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FDF0F-C156-71B1-A901-477C5DF04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A456-78CA-C0DF-8854-2CBD070BE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29C08-9FBA-4F8A-A6CA-6871A16D534D}" type="datetimeFigureOut">
              <a:rPr lang="en-CA" smtClean="0"/>
              <a:t>2025-07-14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FE2D4-F2F8-7E25-2890-7CE6F583C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F6D19-2461-FF04-8422-B3E95B1B8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AAF48-78CA-4A04-A59B-610374FE5B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91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9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CDE7AC0-D6FB-9C7C-C023-D2A1C06B9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32" y="594796"/>
            <a:ext cx="8224967" cy="5945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3E5FA7-AC3B-0956-4B6D-343DDCA01154}"/>
              </a:ext>
            </a:extLst>
          </p:cNvPr>
          <p:cNvSpPr txBox="1"/>
          <p:nvPr/>
        </p:nvSpPr>
        <p:spPr>
          <a:xfrm>
            <a:off x="711200" y="120133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Time Series Plot for Mackenzie FLP Area</a:t>
            </a:r>
          </a:p>
        </p:txBody>
      </p: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FB0B4757-0E6A-7323-C3E5-C417BD765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159" y="6142623"/>
            <a:ext cx="397933" cy="397933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743F1833-21AE-7636-90B6-492ACEB8C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64" y="1921934"/>
            <a:ext cx="397933" cy="397933"/>
          </a:xfrm>
          <a:prstGeom prst="rect">
            <a:avLst/>
          </a:prstGeom>
        </p:spPr>
      </p:pic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998CA284-83DD-54CA-CC21-80A213CB57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158" y="3156846"/>
            <a:ext cx="397933" cy="397933"/>
          </a:xfrm>
          <a:prstGeom prst="rect">
            <a:avLst/>
          </a:prstGeom>
        </p:spPr>
      </p:pic>
      <p:pic>
        <p:nvPicPr>
          <p:cNvPr id="13" name="Graphic 12" descr="Badge 4 with solid fill">
            <a:extLst>
              <a:ext uri="{FF2B5EF4-FFF2-40B4-BE49-F238E27FC236}">
                <a16:creationId xmlns:a16="http://schemas.microsoft.com/office/drawing/2014/main" id="{DFD9ECC7-DD5B-B065-1573-2334F30F4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267" y="4364811"/>
            <a:ext cx="397933" cy="397933"/>
          </a:xfrm>
          <a:prstGeom prst="rect">
            <a:avLst/>
          </a:prstGeom>
        </p:spPr>
      </p:pic>
      <p:pic>
        <p:nvPicPr>
          <p:cNvPr id="15" name="Graphic 14" descr="Badge 5 with solid fill">
            <a:extLst>
              <a:ext uri="{FF2B5EF4-FFF2-40B4-BE49-F238E27FC236}">
                <a16:creationId xmlns:a16="http://schemas.microsoft.com/office/drawing/2014/main" id="{F6532393-E3DD-9310-BC22-B7AF8BB8C8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83400" y="1456267"/>
            <a:ext cx="397933" cy="397933"/>
          </a:xfrm>
          <a:prstGeom prst="rect">
            <a:avLst/>
          </a:prstGeom>
        </p:spPr>
      </p:pic>
      <p:pic>
        <p:nvPicPr>
          <p:cNvPr id="17" name="Graphic 16" descr="Badge 6 with solid fill">
            <a:extLst>
              <a:ext uri="{FF2B5EF4-FFF2-40B4-BE49-F238E27FC236}">
                <a16:creationId xmlns:a16="http://schemas.microsoft.com/office/drawing/2014/main" id="{AC611DA0-732D-62AE-FF33-DF4FE4F0A4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86700" y="2017627"/>
            <a:ext cx="397933" cy="3979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28C8080-A2B1-5AFF-E87E-310CD697845E}"/>
              </a:ext>
            </a:extLst>
          </p:cNvPr>
          <p:cNvSpPr txBox="1"/>
          <p:nvPr/>
        </p:nvSpPr>
        <p:spPr>
          <a:xfrm>
            <a:off x="9177866" y="1767183"/>
            <a:ext cx="2870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Years axis</a:t>
            </a:r>
          </a:p>
          <a:p>
            <a:endParaRPr lang="en-CA" sz="1200" dirty="0"/>
          </a:p>
          <a:p>
            <a:r>
              <a:rPr lang="en-CA" sz="1200" dirty="0"/>
              <a:t>Variable of interest axis</a:t>
            </a:r>
          </a:p>
          <a:p>
            <a:endParaRPr lang="en-CA" sz="1200" dirty="0"/>
          </a:p>
          <a:p>
            <a:r>
              <a:rPr lang="en-CA" sz="1200" dirty="0"/>
              <a:t>Simulated historic climate data using the recommended 8-GCM ensemble, from 1901-2014 (</a:t>
            </a:r>
            <a:r>
              <a:rPr lang="en-CA" sz="1200" b="1" dirty="0">
                <a:solidFill>
                  <a:schemeClr val="bg2">
                    <a:lumMod val="50000"/>
                  </a:schemeClr>
                </a:solidFill>
              </a:rPr>
              <a:t>gray </a:t>
            </a:r>
            <a:r>
              <a:rPr lang="en-CA" sz="1200" dirty="0"/>
              <a:t>shading)</a:t>
            </a:r>
          </a:p>
          <a:p>
            <a:endParaRPr lang="en-CA" sz="1200" dirty="0"/>
          </a:p>
          <a:p>
            <a:r>
              <a:rPr lang="en-CA" sz="1200" dirty="0"/>
              <a:t>Observed historic climate data by dataset (</a:t>
            </a:r>
            <a:r>
              <a:rPr lang="en-CA" sz="1200" b="1" dirty="0"/>
              <a:t>black</a:t>
            </a:r>
            <a:r>
              <a:rPr lang="en-CA" sz="1200" dirty="0"/>
              <a:t>, </a:t>
            </a:r>
            <a:r>
              <a:rPr lang="en-CA" sz="1200" b="1" dirty="0">
                <a:solidFill>
                  <a:srgbClr val="F50C0A"/>
                </a:solidFill>
              </a:rPr>
              <a:t>red </a:t>
            </a:r>
            <a:r>
              <a:rPr lang="en-CA" sz="1200" dirty="0"/>
              <a:t>and </a:t>
            </a:r>
            <a:r>
              <a:rPr lang="en-CA" sz="1200" b="1" dirty="0">
                <a:solidFill>
                  <a:srgbClr val="0000FF"/>
                </a:solidFill>
              </a:rPr>
              <a:t>blue </a:t>
            </a:r>
            <a:r>
              <a:rPr lang="en-CA" sz="1200" dirty="0"/>
              <a:t>lines), from 1901-2023</a:t>
            </a:r>
          </a:p>
          <a:p>
            <a:endParaRPr lang="en-CA" sz="1200" dirty="0"/>
          </a:p>
          <a:p>
            <a:r>
              <a:rPr lang="en-CA" sz="1200" dirty="0"/>
              <a:t>Simulated climate data, by range of each SSP (</a:t>
            </a:r>
            <a:r>
              <a:rPr lang="en-CA" sz="1200" b="1" dirty="0">
                <a:solidFill>
                  <a:srgbClr val="5681AD"/>
                </a:solidFill>
              </a:rPr>
              <a:t>blue</a:t>
            </a:r>
            <a:r>
              <a:rPr lang="en-CA" sz="1200" dirty="0"/>
              <a:t>, </a:t>
            </a:r>
            <a:r>
              <a:rPr lang="en-CA" sz="1200" b="1" dirty="0">
                <a:solidFill>
                  <a:srgbClr val="6FAF8B"/>
                </a:solidFill>
              </a:rPr>
              <a:t>green</a:t>
            </a:r>
            <a:r>
              <a:rPr lang="en-CA" sz="1200" dirty="0"/>
              <a:t>, and </a:t>
            </a:r>
            <a:r>
              <a:rPr lang="en-CA" sz="1200" b="1" dirty="0">
                <a:solidFill>
                  <a:srgbClr val="DC954F"/>
                </a:solidFill>
              </a:rPr>
              <a:t>orange </a:t>
            </a:r>
            <a:r>
              <a:rPr lang="en-CA" sz="1200" dirty="0"/>
              <a:t>shading), from 2015-2100</a:t>
            </a:r>
          </a:p>
          <a:p>
            <a:endParaRPr lang="en-CA" sz="1200" dirty="0"/>
          </a:p>
          <a:p>
            <a:r>
              <a:rPr lang="en-CA" sz="1200" dirty="0"/>
              <a:t>Projected change in variable of interest by SSP (</a:t>
            </a:r>
            <a:r>
              <a:rPr lang="en-CA" sz="1200" b="1" dirty="0">
                <a:solidFill>
                  <a:srgbClr val="5681AD"/>
                </a:solidFill>
              </a:rPr>
              <a:t>blue</a:t>
            </a:r>
            <a:r>
              <a:rPr lang="en-CA" sz="1200" dirty="0"/>
              <a:t>, </a:t>
            </a:r>
            <a:r>
              <a:rPr lang="en-CA" sz="1200" b="1" dirty="0">
                <a:solidFill>
                  <a:srgbClr val="6FAF8B"/>
                </a:solidFill>
              </a:rPr>
              <a:t>green</a:t>
            </a:r>
            <a:r>
              <a:rPr lang="en-CA" sz="1200" dirty="0"/>
              <a:t>, and </a:t>
            </a:r>
            <a:r>
              <a:rPr lang="en-CA" sz="1200" b="1" dirty="0">
                <a:solidFill>
                  <a:srgbClr val="DC954F"/>
                </a:solidFill>
              </a:rPr>
              <a:t>orange </a:t>
            </a:r>
            <a:r>
              <a:rPr lang="en-CA" sz="1200" dirty="0"/>
              <a:t>lines), from 2015-2100</a:t>
            </a:r>
          </a:p>
        </p:txBody>
      </p:sp>
      <p:pic>
        <p:nvPicPr>
          <p:cNvPr id="19" name="Graphic 18" descr="Badge 1 with solid fill">
            <a:extLst>
              <a:ext uri="{FF2B5EF4-FFF2-40B4-BE49-F238E27FC236}">
                <a16:creationId xmlns:a16="http://schemas.microsoft.com/office/drawing/2014/main" id="{52F208AE-DF49-F54C-DCD1-A3E6BA0D5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9932" y="1717705"/>
            <a:ext cx="397933" cy="397933"/>
          </a:xfrm>
          <a:prstGeom prst="rect">
            <a:avLst/>
          </a:prstGeom>
        </p:spPr>
      </p:pic>
      <p:pic>
        <p:nvPicPr>
          <p:cNvPr id="20" name="Graphic 19" descr="Badge with solid fill">
            <a:extLst>
              <a:ext uri="{FF2B5EF4-FFF2-40B4-BE49-F238E27FC236}">
                <a16:creationId xmlns:a16="http://schemas.microsoft.com/office/drawing/2014/main" id="{D4DC849F-769C-61CA-356D-A5A07E704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9931" y="2105053"/>
            <a:ext cx="397933" cy="397933"/>
          </a:xfrm>
          <a:prstGeom prst="rect">
            <a:avLst/>
          </a:prstGeom>
        </p:spPr>
      </p:pic>
      <p:pic>
        <p:nvPicPr>
          <p:cNvPr id="21" name="Graphic 20" descr="Badge 3 with solid fill">
            <a:extLst>
              <a:ext uri="{FF2B5EF4-FFF2-40B4-BE49-F238E27FC236}">
                <a16:creationId xmlns:a16="http://schemas.microsoft.com/office/drawing/2014/main" id="{15AB0CFB-A908-58BF-CA52-D633D16825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9930" y="2502986"/>
            <a:ext cx="397933" cy="397933"/>
          </a:xfrm>
          <a:prstGeom prst="rect">
            <a:avLst/>
          </a:prstGeom>
        </p:spPr>
      </p:pic>
      <p:pic>
        <p:nvPicPr>
          <p:cNvPr id="22" name="Graphic 21" descr="Badge 4 with solid fill">
            <a:extLst>
              <a:ext uri="{FF2B5EF4-FFF2-40B4-BE49-F238E27FC236}">
                <a16:creationId xmlns:a16="http://schemas.microsoft.com/office/drawing/2014/main" id="{93BABBFD-FC53-360A-36EE-97C75003C9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79930" y="3234932"/>
            <a:ext cx="397933" cy="397933"/>
          </a:xfrm>
          <a:prstGeom prst="rect">
            <a:avLst/>
          </a:prstGeom>
        </p:spPr>
      </p:pic>
      <p:pic>
        <p:nvPicPr>
          <p:cNvPr id="23" name="Graphic 22" descr="Badge 5 with solid fill">
            <a:extLst>
              <a:ext uri="{FF2B5EF4-FFF2-40B4-BE49-F238E27FC236}">
                <a16:creationId xmlns:a16="http://schemas.microsoft.com/office/drawing/2014/main" id="{EAFBBBCE-2F71-6085-B5B5-15844E22F3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79930" y="3966878"/>
            <a:ext cx="397933" cy="397933"/>
          </a:xfrm>
          <a:prstGeom prst="rect">
            <a:avLst/>
          </a:prstGeom>
        </p:spPr>
      </p:pic>
      <p:pic>
        <p:nvPicPr>
          <p:cNvPr id="24" name="Graphic 23" descr="Badge 6 with solid fill">
            <a:extLst>
              <a:ext uri="{FF2B5EF4-FFF2-40B4-BE49-F238E27FC236}">
                <a16:creationId xmlns:a16="http://schemas.microsoft.com/office/drawing/2014/main" id="{5FA2F128-FD41-D48C-7FBC-6F735D82CB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87402" y="4667523"/>
            <a:ext cx="397933" cy="39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8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4D6F6C-2469-8D8D-5056-3595F511AB02}"/>
              </a:ext>
            </a:extLst>
          </p:cNvPr>
          <p:cNvSpPr txBox="1"/>
          <p:nvPr/>
        </p:nvSpPr>
        <p:spPr>
          <a:xfrm>
            <a:off x="762000" y="202168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Bivariate Plot for 100 Mile House FLP Area; 2041-2060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F67002-F22D-B339-EDCA-C7A51806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571500"/>
            <a:ext cx="7905750" cy="5715000"/>
          </a:xfrm>
          <a:prstGeom prst="rect">
            <a:avLst/>
          </a:prstGeom>
        </p:spPr>
      </p:pic>
      <p:pic>
        <p:nvPicPr>
          <p:cNvPr id="9" name="Graphic 8" descr="Badge 1 with solid fill">
            <a:extLst>
              <a:ext uri="{FF2B5EF4-FFF2-40B4-BE49-F238E27FC236}">
                <a16:creationId xmlns:a16="http://schemas.microsoft.com/office/drawing/2014/main" id="{F00034A7-C32A-AC50-EB6A-A06C672D8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0533" y="4131734"/>
            <a:ext cx="389467" cy="389467"/>
          </a:xfrm>
          <a:prstGeom prst="rect">
            <a:avLst/>
          </a:prstGeom>
        </p:spPr>
      </p:pic>
      <p:pic>
        <p:nvPicPr>
          <p:cNvPr id="11" name="Graphic 10" descr="Badge with solid fill">
            <a:extLst>
              <a:ext uri="{FF2B5EF4-FFF2-40B4-BE49-F238E27FC236}">
                <a16:creationId xmlns:a16="http://schemas.microsoft.com/office/drawing/2014/main" id="{B93EA9FC-E417-40CC-781C-C4F2F753D8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6867" y="4411134"/>
            <a:ext cx="397933" cy="397933"/>
          </a:xfrm>
          <a:prstGeom prst="rect">
            <a:avLst/>
          </a:prstGeom>
        </p:spPr>
      </p:pic>
      <p:pic>
        <p:nvPicPr>
          <p:cNvPr id="13" name="Graphic 12" descr="Badge 3 with solid fill">
            <a:extLst>
              <a:ext uri="{FF2B5EF4-FFF2-40B4-BE49-F238E27FC236}">
                <a16:creationId xmlns:a16="http://schemas.microsoft.com/office/drawing/2014/main" id="{DC23EA85-0FDB-2D2C-4131-01489D9867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0067" y="3828535"/>
            <a:ext cx="397933" cy="3979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08318C-BAD8-8F88-55A0-49AD9B306A48}"/>
              </a:ext>
            </a:extLst>
          </p:cNvPr>
          <p:cNvSpPr txBox="1"/>
          <p:nvPr/>
        </p:nvSpPr>
        <p:spPr>
          <a:xfrm>
            <a:off x="8643408" y="2090172"/>
            <a:ext cx="28109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Trajectory line for a specific GCM, the coloured circles along the line shows the ensemble mean for that GCM in 20-year increments</a:t>
            </a:r>
          </a:p>
          <a:p>
            <a:endParaRPr lang="en-CA" sz="1200" dirty="0"/>
          </a:p>
          <a:p>
            <a:r>
              <a:rPr lang="en-CA" sz="1200" dirty="0"/>
              <a:t>Smaller circles around the trajectory are the individual model runs for a specific (will be the same colour as the trajectory line)</a:t>
            </a:r>
          </a:p>
          <a:p>
            <a:endParaRPr lang="en-CA" sz="1200" dirty="0"/>
          </a:p>
          <a:p>
            <a:r>
              <a:rPr lang="en-CA" sz="1200" dirty="0"/>
              <a:t>Large circle with model name on the trajectory line shows the ensemble mean for that specific GCM in the period plotted (here, it is the ensemble mean for 2041-2060)</a:t>
            </a:r>
          </a:p>
        </p:txBody>
      </p:sp>
      <p:pic>
        <p:nvPicPr>
          <p:cNvPr id="15" name="Graphic 14" descr="Badge 1 with solid fill">
            <a:extLst>
              <a:ext uri="{FF2B5EF4-FFF2-40B4-BE49-F238E27FC236}">
                <a16:creationId xmlns:a16="http://schemas.microsoft.com/office/drawing/2014/main" id="{8AC2872E-BF61-9CA4-3BE3-04864B226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0875" y="2294467"/>
            <a:ext cx="389467" cy="389467"/>
          </a:xfrm>
          <a:prstGeom prst="rect">
            <a:avLst/>
          </a:prstGeom>
        </p:spPr>
      </p:pic>
      <p:pic>
        <p:nvPicPr>
          <p:cNvPr id="16" name="Graphic 15" descr="Badge with solid fill">
            <a:extLst>
              <a:ext uri="{FF2B5EF4-FFF2-40B4-BE49-F238E27FC236}">
                <a16:creationId xmlns:a16="http://schemas.microsoft.com/office/drawing/2014/main" id="{FD6F27E2-DDA3-3AB6-18B4-765415CCD1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8649" y="3204634"/>
            <a:ext cx="397933" cy="397933"/>
          </a:xfrm>
          <a:prstGeom prst="rect">
            <a:avLst/>
          </a:prstGeom>
        </p:spPr>
      </p:pic>
      <p:pic>
        <p:nvPicPr>
          <p:cNvPr id="17" name="Graphic 16" descr="Badge 3 with solid fill">
            <a:extLst>
              <a:ext uri="{FF2B5EF4-FFF2-40B4-BE49-F238E27FC236}">
                <a16:creationId xmlns:a16="http://schemas.microsoft.com/office/drawing/2014/main" id="{0F41176F-9351-18CD-1138-C2A7DFA0DF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8649" y="4226468"/>
            <a:ext cx="397933" cy="39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8FAADD2F-16EA-E83D-94EA-92DCC05BD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6" y="629910"/>
            <a:ext cx="8146790" cy="58892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4A0C55-06F7-482C-1FB4-063F92127FDD}"/>
              </a:ext>
            </a:extLst>
          </p:cNvPr>
          <p:cNvSpPr txBox="1"/>
          <p:nvPr/>
        </p:nvSpPr>
        <p:spPr>
          <a:xfrm>
            <a:off x="897942" y="166952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Bulkley-Morice FLP Area; 1961-1990</a:t>
            </a:r>
          </a:p>
        </p:txBody>
      </p: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3509548E-422B-25E6-43C1-AFBA73955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8332" y="491723"/>
            <a:ext cx="369331" cy="369331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A04526A4-00C0-70D6-764B-CED6D68CF7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889" y="2792561"/>
            <a:ext cx="372533" cy="372533"/>
          </a:xfrm>
          <a:prstGeom prst="rect">
            <a:avLst/>
          </a:prstGeom>
        </p:spPr>
      </p:pic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391E2B59-C960-07CB-94B6-EDEA98EAF1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1060" y="2770199"/>
            <a:ext cx="372533" cy="372533"/>
          </a:xfrm>
          <a:prstGeom prst="rect">
            <a:avLst/>
          </a:prstGeom>
        </p:spPr>
      </p:pic>
      <p:pic>
        <p:nvPicPr>
          <p:cNvPr id="13" name="Graphic 12" descr="Badge 4 with solid fill">
            <a:extLst>
              <a:ext uri="{FF2B5EF4-FFF2-40B4-BE49-F238E27FC236}">
                <a16:creationId xmlns:a16="http://schemas.microsoft.com/office/drawing/2014/main" id="{A0825C4B-BC48-6BE9-ADB9-B60DF0D28E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84610" y="6334490"/>
            <a:ext cx="369332" cy="369332"/>
          </a:xfrm>
          <a:prstGeom prst="rect">
            <a:avLst/>
          </a:prstGeom>
        </p:spPr>
      </p:pic>
      <p:pic>
        <p:nvPicPr>
          <p:cNvPr id="15" name="Graphic 14" descr="Badge 5 with solid fill">
            <a:extLst>
              <a:ext uri="{FF2B5EF4-FFF2-40B4-BE49-F238E27FC236}">
                <a16:creationId xmlns:a16="http://schemas.microsoft.com/office/drawing/2014/main" id="{1DB0F390-C8B7-7979-31C1-6A3F230F1D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8700" y="5051861"/>
            <a:ext cx="369332" cy="369332"/>
          </a:xfrm>
          <a:prstGeom prst="rect">
            <a:avLst/>
          </a:prstGeom>
        </p:spPr>
      </p:pic>
      <p:pic>
        <p:nvPicPr>
          <p:cNvPr id="17" name="Graphic 16" descr="Badge 6 with solid fill">
            <a:extLst>
              <a:ext uri="{FF2B5EF4-FFF2-40B4-BE49-F238E27FC236}">
                <a16:creationId xmlns:a16="http://schemas.microsoft.com/office/drawing/2014/main" id="{8E410527-90D2-C9CA-61B4-57F498BA0A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83665" y="3906900"/>
            <a:ext cx="369332" cy="369332"/>
          </a:xfrm>
          <a:prstGeom prst="rect">
            <a:avLst/>
          </a:prstGeom>
        </p:spPr>
      </p:pic>
      <p:pic>
        <p:nvPicPr>
          <p:cNvPr id="19" name="Graphic 18" descr="Badge 7 with solid fill">
            <a:extLst>
              <a:ext uri="{FF2B5EF4-FFF2-40B4-BE49-F238E27FC236}">
                <a16:creationId xmlns:a16="http://schemas.microsoft.com/office/drawing/2014/main" id="{23691C00-F0AB-834B-CE58-38EA20CDF18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49831" y="2747259"/>
            <a:ext cx="369332" cy="369332"/>
          </a:xfrm>
          <a:prstGeom prst="rect">
            <a:avLst/>
          </a:prstGeom>
        </p:spPr>
      </p:pic>
      <p:pic>
        <p:nvPicPr>
          <p:cNvPr id="21" name="Graphic 20" descr="Badge 8 with solid fill">
            <a:extLst>
              <a:ext uri="{FF2B5EF4-FFF2-40B4-BE49-F238E27FC236}">
                <a16:creationId xmlns:a16="http://schemas.microsoft.com/office/drawing/2014/main" id="{A10926D3-7C49-918B-0601-27C46B18F0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84610" y="4582579"/>
            <a:ext cx="369332" cy="3693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AF6B661-C720-43B6-ABA1-35601070BBCB}"/>
              </a:ext>
            </a:extLst>
          </p:cNvPr>
          <p:cNvSpPr txBox="1"/>
          <p:nvPr/>
        </p:nvSpPr>
        <p:spPr>
          <a:xfrm>
            <a:off x="9702800" y="1536174"/>
            <a:ext cx="248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Average annual temperature &amp; precipitation</a:t>
            </a:r>
          </a:p>
          <a:p>
            <a:endParaRPr lang="en-CA" sz="1200" dirty="0"/>
          </a:p>
          <a:p>
            <a:r>
              <a:rPr lang="en-CA" sz="1200" dirty="0"/>
              <a:t>Temperature axis</a:t>
            </a:r>
          </a:p>
          <a:p>
            <a:pPr marL="171450" indent="-171450">
              <a:buFontTx/>
              <a:buChar char="-"/>
            </a:pPr>
            <a:endParaRPr lang="en-CA" sz="1200" dirty="0"/>
          </a:p>
          <a:p>
            <a:r>
              <a:rPr lang="en-CA" sz="1200" dirty="0"/>
              <a:t>Precipitation axis</a:t>
            </a:r>
          </a:p>
          <a:p>
            <a:pPr marL="171450" indent="-171450">
              <a:buFontTx/>
              <a:buChar char="-"/>
            </a:pPr>
            <a:endParaRPr lang="en-CA" sz="1200" dirty="0"/>
          </a:p>
          <a:p>
            <a:r>
              <a:rPr lang="en-CA" sz="1200" dirty="0"/>
              <a:t>Months of the year</a:t>
            </a:r>
          </a:p>
          <a:p>
            <a:pPr marL="171450" indent="-171450">
              <a:buFontTx/>
              <a:buChar char="-"/>
            </a:pPr>
            <a:endParaRPr lang="en-CA" sz="1200" dirty="0"/>
          </a:p>
          <a:p>
            <a:r>
              <a:rPr lang="en-CA" sz="1200" dirty="0"/>
              <a:t>Months with frost likely (</a:t>
            </a:r>
            <a:r>
              <a:rPr lang="en-CA" sz="1200" b="1" dirty="0">
                <a:solidFill>
                  <a:srgbClr val="4C4CFF"/>
                </a:solidFill>
              </a:rPr>
              <a:t>blue </a:t>
            </a:r>
            <a:r>
              <a:rPr lang="en-CA" sz="1200" dirty="0"/>
              <a:t>bars)</a:t>
            </a:r>
          </a:p>
          <a:p>
            <a:pPr marL="171450" indent="-171450">
              <a:buFontTx/>
              <a:buChar char="-"/>
            </a:pPr>
            <a:endParaRPr lang="en-CA" sz="1200" dirty="0"/>
          </a:p>
          <a:p>
            <a:r>
              <a:rPr lang="en-CA" sz="1200" dirty="0"/>
              <a:t>Average monthly </a:t>
            </a:r>
            <a:r>
              <a:rPr lang="en-CA" sz="1200" b="1" dirty="0">
                <a:solidFill>
                  <a:srgbClr val="D90A27"/>
                </a:solidFill>
              </a:rPr>
              <a:t>temperature curve</a:t>
            </a:r>
            <a:endParaRPr lang="en-CA" sz="1200" dirty="0"/>
          </a:p>
          <a:p>
            <a:pPr marL="171450" indent="-171450">
              <a:buFontTx/>
              <a:buChar char="-"/>
            </a:pPr>
            <a:endParaRPr lang="en-CA" sz="1200" dirty="0"/>
          </a:p>
          <a:p>
            <a:r>
              <a:rPr lang="en-CA" sz="1200" dirty="0"/>
              <a:t>Average monthly </a:t>
            </a:r>
            <a:r>
              <a:rPr lang="en-CA" sz="1200" b="1" dirty="0">
                <a:solidFill>
                  <a:srgbClr val="6B6BFF"/>
                </a:solidFill>
              </a:rPr>
              <a:t>precipitation curve</a:t>
            </a:r>
            <a:endParaRPr lang="en-CA" sz="1200" dirty="0"/>
          </a:p>
          <a:p>
            <a:pPr marL="171450" indent="-171450">
              <a:buFontTx/>
              <a:buChar char="-"/>
            </a:pPr>
            <a:endParaRPr lang="en-CA" sz="1200" dirty="0"/>
          </a:p>
          <a:p>
            <a:r>
              <a:rPr lang="en-CA" sz="1200" dirty="0"/>
              <a:t>Diurnal range (difference between the highest and lowest temperature recorded in a 24-hr period – </a:t>
            </a:r>
            <a:r>
              <a:rPr lang="en-CA" sz="1200" b="1" dirty="0">
                <a:solidFill>
                  <a:srgbClr val="F50C0A"/>
                </a:solidFill>
              </a:rPr>
              <a:t>red</a:t>
            </a:r>
            <a:r>
              <a:rPr lang="en-CA" sz="1200" b="1" dirty="0">
                <a:solidFill>
                  <a:srgbClr val="CC99CC"/>
                </a:solidFill>
              </a:rPr>
              <a:t> </a:t>
            </a:r>
            <a:r>
              <a:rPr lang="en-CA" sz="1200" dirty="0"/>
              <a:t>shading)</a:t>
            </a:r>
          </a:p>
          <a:p>
            <a:pPr marL="171450" indent="-171450">
              <a:buFontTx/>
              <a:buChar char="-"/>
            </a:pPr>
            <a:endParaRPr lang="en-CA" sz="1200" dirty="0"/>
          </a:p>
        </p:txBody>
      </p:sp>
      <p:pic>
        <p:nvPicPr>
          <p:cNvPr id="24" name="Graphic 23" descr="Badge 1 with solid fill">
            <a:extLst>
              <a:ext uri="{FF2B5EF4-FFF2-40B4-BE49-F238E27FC236}">
                <a16:creationId xmlns:a16="http://schemas.microsoft.com/office/drawing/2014/main" id="{24915721-5BAB-8573-7861-36D9897E39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3469" y="1622946"/>
            <a:ext cx="369331" cy="369331"/>
          </a:xfrm>
          <a:prstGeom prst="rect">
            <a:avLst/>
          </a:prstGeom>
        </p:spPr>
      </p:pic>
      <p:pic>
        <p:nvPicPr>
          <p:cNvPr id="25" name="Graphic 24" descr="Badge with solid fill">
            <a:extLst>
              <a:ext uri="{FF2B5EF4-FFF2-40B4-BE49-F238E27FC236}">
                <a16:creationId xmlns:a16="http://schemas.microsoft.com/office/drawing/2014/main" id="{26C3913D-5AE1-E9BB-605E-14AA583FB9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1867" y="2008705"/>
            <a:ext cx="372533" cy="372533"/>
          </a:xfrm>
          <a:prstGeom prst="rect">
            <a:avLst/>
          </a:prstGeom>
        </p:spPr>
      </p:pic>
      <p:pic>
        <p:nvPicPr>
          <p:cNvPr id="26" name="Graphic 25" descr="Badge 3 with solid fill">
            <a:extLst>
              <a:ext uri="{FF2B5EF4-FFF2-40B4-BE49-F238E27FC236}">
                <a16:creationId xmlns:a16="http://schemas.microsoft.com/office/drawing/2014/main" id="{CC3D4EAB-BC40-70FF-F007-6638CDC17D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1868" y="2397666"/>
            <a:ext cx="372533" cy="372533"/>
          </a:xfrm>
          <a:prstGeom prst="rect">
            <a:avLst/>
          </a:prstGeom>
        </p:spPr>
      </p:pic>
      <p:pic>
        <p:nvPicPr>
          <p:cNvPr id="27" name="Graphic 26" descr="Badge 4 with solid fill">
            <a:extLst>
              <a:ext uri="{FF2B5EF4-FFF2-40B4-BE49-F238E27FC236}">
                <a16:creationId xmlns:a16="http://schemas.microsoft.com/office/drawing/2014/main" id="{139859C7-6A8E-77D6-F688-0C626E88AB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1867" y="2763776"/>
            <a:ext cx="369332" cy="369332"/>
          </a:xfrm>
          <a:prstGeom prst="rect">
            <a:avLst/>
          </a:prstGeom>
        </p:spPr>
      </p:pic>
      <p:pic>
        <p:nvPicPr>
          <p:cNvPr id="28" name="Graphic 27" descr="Badge 5 with solid fill">
            <a:extLst>
              <a:ext uri="{FF2B5EF4-FFF2-40B4-BE49-F238E27FC236}">
                <a16:creationId xmlns:a16="http://schemas.microsoft.com/office/drawing/2014/main" id="{24D72110-4BCC-38EB-7CC7-DBF097B7C6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31867" y="3142732"/>
            <a:ext cx="369332" cy="369332"/>
          </a:xfrm>
          <a:prstGeom prst="rect">
            <a:avLst/>
          </a:prstGeom>
        </p:spPr>
      </p:pic>
      <p:pic>
        <p:nvPicPr>
          <p:cNvPr id="29" name="Graphic 28" descr="Badge 6 with solid fill">
            <a:extLst>
              <a:ext uri="{FF2B5EF4-FFF2-40B4-BE49-F238E27FC236}">
                <a16:creationId xmlns:a16="http://schemas.microsoft.com/office/drawing/2014/main" id="{620E6135-9A1E-3E03-5825-960329A175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31867" y="3574533"/>
            <a:ext cx="369332" cy="369332"/>
          </a:xfrm>
          <a:prstGeom prst="rect">
            <a:avLst/>
          </a:prstGeom>
        </p:spPr>
      </p:pic>
      <p:pic>
        <p:nvPicPr>
          <p:cNvPr id="30" name="Graphic 29" descr="Badge 7 with solid fill">
            <a:extLst>
              <a:ext uri="{FF2B5EF4-FFF2-40B4-BE49-F238E27FC236}">
                <a16:creationId xmlns:a16="http://schemas.microsoft.com/office/drawing/2014/main" id="{8C560B86-CA7E-C473-FFE6-5A07DE37D5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31867" y="4128531"/>
            <a:ext cx="369332" cy="369332"/>
          </a:xfrm>
          <a:prstGeom prst="rect">
            <a:avLst/>
          </a:prstGeom>
        </p:spPr>
      </p:pic>
      <p:pic>
        <p:nvPicPr>
          <p:cNvPr id="31" name="Graphic 30" descr="Badge 8 with solid fill">
            <a:extLst>
              <a:ext uri="{FF2B5EF4-FFF2-40B4-BE49-F238E27FC236}">
                <a16:creationId xmlns:a16="http://schemas.microsoft.com/office/drawing/2014/main" id="{5456A08E-CECA-3AE8-5736-3BA3E6EA34D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31867" y="4682529"/>
            <a:ext cx="36933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4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887FDF7-132F-F46A-4A71-81B7170DD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76" y="484283"/>
            <a:ext cx="8147050" cy="58894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13378D-5745-FAC3-81DB-2963F5E92311}"/>
              </a:ext>
            </a:extLst>
          </p:cNvPr>
          <p:cNvSpPr txBox="1"/>
          <p:nvPr/>
        </p:nvSpPr>
        <p:spPr>
          <a:xfrm>
            <a:off x="2438401" y="115124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Coast Range Ecoregion; 1961-1990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3317E0-5B7D-7305-8589-6BFFA5F331A0}"/>
              </a:ext>
            </a:extLst>
          </p:cNvPr>
          <p:cNvSpPr txBox="1"/>
          <p:nvPr/>
        </p:nvSpPr>
        <p:spPr>
          <a:xfrm>
            <a:off x="186267" y="2294467"/>
            <a:ext cx="1836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Humid period:</a:t>
            </a:r>
          </a:p>
          <a:p>
            <a:r>
              <a:rPr lang="en-CA" sz="1200" dirty="0"/>
              <a:t>When the </a:t>
            </a:r>
            <a:r>
              <a:rPr lang="en-CA" sz="1200" b="1" dirty="0">
                <a:solidFill>
                  <a:srgbClr val="6B6BFF"/>
                </a:solidFill>
              </a:rPr>
              <a:t>blue line </a:t>
            </a:r>
            <a:r>
              <a:rPr lang="en-CA" sz="1200" dirty="0"/>
              <a:t>is above the </a:t>
            </a:r>
            <a:r>
              <a:rPr lang="en-CA" sz="1200" b="1" dirty="0">
                <a:solidFill>
                  <a:srgbClr val="D90A27"/>
                </a:solidFill>
              </a:rPr>
              <a:t>red line</a:t>
            </a:r>
            <a:r>
              <a:rPr lang="en-CA" sz="1200" dirty="0"/>
              <a:t>, conditions are </a:t>
            </a:r>
            <a:r>
              <a:rPr lang="en-CA" sz="1200" b="1" dirty="0"/>
              <a:t>humid</a:t>
            </a:r>
            <a:endParaRPr lang="en-CA" sz="1200" dirty="0"/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6F32C121-7FB0-8BC2-94EA-A92D6CA67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0333" y="2057400"/>
            <a:ext cx="914400" cy="914400"/>
          </a:xfrm>
          <a:prstGeom prst="rect">
            <a:avLst/>
          </a:prstGeom>
        </p:spPr>
      </p:pic>
      <p:pic>
        <p:nvPicPr>
          <p:cNvPr id="24" name="Graphic 23" descr="Line arrow: Straight with solid fill">
            <a:extLst>
              <a:ext uri="{FF2B5EF4-FFF2-40B4-BE49-F238E27FC236}">
                <a16:creationId xmlns:a16="http://schemas.microsoft.com/office/drawing/2014/main" id="{09FBFD7A-B10C-7BEF-B335-E2C0E08932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7459" y="946121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D90AD9E-80F8-314E-7D18-74EF8B65B313}"/>
              </a:ext>
            </a:extLst>
          </p:cNvPr>
          <p:cNvSpPr txBox="1"/>
          <p:nvPr/>
        </p:nvSpPr>
        <p:spPr>
          <a:xfrm>
            <a:off x="10168469" y="1064654"/>
            <a:ext cx="1649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Wet period:</a:t>
            </a:r>
          </a:p>
          <a:p>
            <a:r>
              <a:rPr lang="en-CA" sz="1200" dirty="0"/>
              <a:t>When the </a:t>
            </a:r>
            <a:r>
              <a:rPr lang="en-CA" sz="1200" b="1" dirty="0">
                <a:solidFill>
                  <a:srgbClr val="6B6BFF"/>
                </a:solidFill>
              </a:rPr>
              <a:t>blue line </a:t>
            </a:r>
            <a:r>
              <a:rPr lang="en-CA" sz="1200" dirty="0"/>
              <a:t>is above 100m, conditions are </a:t>
            </a:r>
            <a:r>
              <a:rPr lang="en-CA" sz="1200" b="1" dirty="0"/>
              <a:t>wet</a:t>
            </a:r>
            <a:endParaRPr lang="en-CA" sz="1200" dirty="0"/>
          </a:p>
        </p:txBody>
      </p:sp>
      <p:pic>
        <p:nvPicPr>
          <p:cNvPr id="27" name="Graphic 26" descr="Arrow Down with solid fill">
            <a:extLst>
              <a:ext uri="{FF2B5EF4-FFF2-40B4-BE49-F238E27FC236}">
                <a16:creationId xmlns:a16="http://schemas.microsoft.com/office/drawing/2014/main" id="{E45BE004-890C-73C6-EE27-3955080313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3776132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8BB82EF-AD62-8820-C445-C5B638CFCC7B}"/>
              </a:ext>
            </a:extLst>
          </p:cNvPr>
          <p:cNvSpPr txBox="1"/>
          <p:nvPr/>
        </p:nvSpPr>
        <p:spPr>
          <a:xfrm>
            <a:off x="5918201" y="2852802"/>
            <a:ext cx="1523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Dry period:</a:t>
            </a:r>
          </a:p>
          <a:p>
            <a:r>
              <a:rPr lang="en-CA" sz="1200" dirty="0"/>
              <a:t>When the </a:t>
            </a:r>
            <a:r>
              <a:rPr lang="en-CA" sz="1200" b="1" dirty="0">
                <a:solidFill>
                  <a:srgbClr val="D90A27"/>
                </a:solidFill>
              </a:rPr>
              <a:t>red line </a:t>
            </a:r>
            <a:r>
              <a:rPr lang="en-CA" sz="1200" dirty="0"/>
              <a:t>is above the </a:t>
            </a:r>
            <a:r>
              <a:rPr lang="en-CA" sz="1200" b="1" dirty="0">
                <a:solidFill>
                  <a:srgbClr val="6B6BFF"/>
                </a:solidFill>
              </a:rPr>
              <a:t>blue line</a:t>
            </a:r>
            <a:r>
              <a:rPr lang="en-CA" sz="1200" dirty="0"/>
              <a:t>, conditions are </a:t>
            </a:r>
            <a:r>
              <a:rPr lang="en-CA" sz="1200" b="1" dirty="0"/>
              <a:t>dry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395793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327</Words>
  <Application>Microsoft Office PowerPoint</Application>
  <PresentationFormat>Widescreen</PresentationFormat>
  <Paragraphs>46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Grice, Tirion FOR:EX</dc:creator>
  <cp:lastModifiedBy>Grice, Tirion FOR:EX</cp:lastModifiedBy>
  <cp:revision>8</cp:revision>
  <dcterms:created xsi:type="dcterms:W3CDTF">2025-07-14T18:06:22Z</dcterms:created>
  <dcterms:modified xsi:type="dcterms:W3CDTF">2025-07-14T23:15:41Z</dcterms:modified>
</cp:coreProperties>
</file>